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08" r:id="rId3"/>
    <p:sldId id="286" r:id="rId4"/>
    <p:sldId id="310" r:id="rId5"/>
    <p:sldId id="287" r:id="rId6"/>
    <p:sldId id="292" r:id="rId7"/>
    <p:sldId id="316" r:id="rId8"/>
    <p:sldId id="289" r:id="rId9"/>
    <p:sldId id="290" r:id="rId10"/>
    <p:sldId id="298" r:id="rId11"/>
    <p:sldId id="317" r:id="rId12"/>
    <p:sldId id="301" r:id="rId13"/>
    <p:sldId id="302" r:id="rId14"/>
    <p:sldId id="294" r:id="rId15"/>
    <p:sldId id="293" r:id="rId16"/>
    <p:sldId id="311" r:id="rId17"/>
    <p:sldId id="305" r:id="rId18"/>
    <p:sldId id="312" r:id="rId19"/>
    <p:sldId id="306" r:id="rId20"/>
    <p:sldId id="315" r:id="rId21"/>
    <p:sldId id="321" r:id="rId22"/>
    <p:sldId id="318" r:id="rId23"/>
    <p:sldId id="314" r:id="rId24"/>
    <p:sldId id="319" r:id="rId25"/>
    <p:sldId id="320" r:id="rId26"/>
    <p:sldId id="323" r:id="rId27"/>
    <p:sldId id="322" r:id="rId28"/>
    <p:sldId id="284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3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24309B-E70E-BD30-F320-CE64618D3B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143526-FD96-22E0-41D5-CF00B6FEE5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804767-80E4-8E36-5405-D9F1FA4778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33C59-707E-4958-AF1C-D76E845B6479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FC5523-3843-2255-9C84-383D2D3AD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1A67EE-0184-D821-1984-0519A66C8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8A35-18AF-4D79-A72C-890C9A49AA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7353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89CCE-F807-BF9E-3CCB-30ECBBD5B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F034F2-F9C4-3789-8F37-74DD5D0C08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69FF65-FFC6-7FAB-7A5D-A18B7D397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33C59-707E-4958-AF1C-D76E845B6479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B27DCF-0293-4A04-DE86-B66C77E18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271ACF-E761-B156-1387-BFEB778C3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8A35-18AF-4D79-A72C-890C9A49AA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5804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C1B10-A9EA-6C7B-0CE1-5451A54D4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613C76-6227-554A-BE8D-02F96E9E54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756EB2-A505-1C9E-86B6-8033153CFE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33C59-707E-4958-AF1C-D76E845B6479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1E5F2A-CD0A-AB68-22FC-41D83ED72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D141B2-B753-4987-D99B-431ADE0A8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8A35-18AF-4D79-A72C-890C9A49AA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3594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88089-7BBC-11D2-5E78-22D3BB359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96A57F-6E49-697C-3CB4-57D8EA3D29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B2EF6D-290F-717D-E2A1-03CACE1A33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A6663E-140B-2C2A-8DDB-752D1DBF2F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33C59-707E-4958-AF1C-D76E845B6479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B65582-8AB5-5E42-7ECA-9B75D84AF3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A39748-5BDA-9F86-0FE0-F2547F4A8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8A35-18AF-4D79-A72C-890C9A49AA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8361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2E266-0ACA-8C43-87F8-4F9E9A26F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1EF0A5-7116-0303-EF15-30365F5618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4D641E-FAB4-7444-6662-5EA0195E6E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50177A-8F8B-4372-4DB0-8E47B632D3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086222-A202-8B54-6ECB-BE335D2F72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A0E2B33-1620-EC0A-FCC1-DA9BB2DFB2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33C59-707E-4958-AF1C-D76E845B6479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E2C2633-D610-61CB-C35B-AB15A605E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D68E863-CA7B-8AE1-5477-1458364C6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8A35-18AF-4D79-A72C-890C9A49AA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1093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1632EE-E2EC-545A-FC82-2D7AB196C1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A5A98D-B8C6-4CD4-C50C-AFCD60381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33C59-707E-4958-AF1C-D76E845B6479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94D232-F58A-D2A4-B4CB-468F19789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4E405E-2919-6920-78C0-D42AC5489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8A35-18AF-4D79-A72C-890C9A49AA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92839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042DBB-C806-D47D-C520-58C337671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33C59-707E-4958-AF1C-D76E845B6479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CAFF8F-F4BC-CB39-F347-D2DEDCEEE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27F907-A95F-EA8E-C344-34DD47F9D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8A35-18AF-4D79-A72C-890C9A49AA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83877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1A0A85-C6F8-B8B4-DC8E-974BDE6E9F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5D872C-605F-AD67-AB49-1006E1019C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367B82-00E3-2596-E7DC-80247BE09E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688962-35F2-EE4A-BE39-A30CBBD65C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33C59-707E-4958-AF1C-D76E845B6479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02FE1C-95D5-2937-7C80-901A095D39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09936A-2B64-A910-65BA-B5AB3C425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8A35-18AF-4D79-A72C-890C9A49AA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0640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630EC7-321E-0A26-3342-82CF913E1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1C173D-1FD5-10EE-C222-98763624F5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EF8A95-56AE-D735-0482-64FC31F067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78C7E1-49FF-C653-C009-D7DF476695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33C59-707E-4958-AF1C-D76E845B6479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A6E614-D6C9-C319-0BB1-37D471051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B95792-9400-58EC-4CBA-EF0C22DD5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8A35-18AF-4D79-A72C-890C9A49AA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9935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82A57-C337-53F5-170C-2394AF3ED7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548EBB-3088-2D14-A80C-3207896FA4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E05139-4D1F-CCDE-264C-CF4E9A352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33C59-707E-4958-AF1C-D76E845B6479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355B1C-0274-2E62-3B30-74720C705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2B65A8-FE12-F5D9-DD9C-68A8898F0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8A35-18AF-4D79-A72C-890C9A49AA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0898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93FE12-92A2-D296-9080-07FFDEE54F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7D45C4-6178-A89A-7618-202693BA24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0CEEBD-7CD2-3D55-A73C-DB54AE01BA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33C59-707E-4958-AF1C-D76E845B6479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843379-7E41-9C7C-33EA-113D4143B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AA07B1-B007-0460-F50A-A9A26D33D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8A35-18AF-4D79-A72C-890C9A49AA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257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20264D1-50B2-2C30-32B2-18551FA854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D0299F-BA52-06F6-7386-1B194C75FC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1585CA-4430-61DC-0DB0-1861FDBA8E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533C59-707E-4958-AF1C-D76E845B6479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2344DA-4C90-5B75-820B-EB2FC49F35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5C8FA4-08C5-9353-D012-E2B00E8727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AC8A35-18AF-4D79-A72C-890C9A49AA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7340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linkedin.com/in/antonioprgomet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X-uXL4x2Ap0&amp;list=PLgzaMbMPEHEx9Als3F3sKKXexWnyEKH45&amp;index=9" TargetMode="External"/><Relationship Id="rId2" Type="http://schemas.openxmlformats.org/officeDocument/2006/relationships/hyperlink" Target="https://www.youtube.com/watch?v=NzGiMYinmog&amp;list=PLgzaMbMPEHEx9Als3F3sKKXexWnyEKH45&amp;index=8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youtube.com/watch?v=-kErwtsQRKk&amp;list=PLgzaMbMPEHEx9Als3F3sKKXexWnyEKH45&amp;index=10&amp;t=817s" TargetMode="Externa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linkedin.com/in/antonioprgomet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4" name="Rectangle 1030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C334001-094D-63A0-A018-37201751CA3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346" r="9089" b="19731"/>
          <a:stretch/>
        </p:blipFill>
        <p:spPr bwMode="auto">
          <a:xfrm>
            <a:off x="3523488" y="10"/>
            <a:ext cx="866851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3" name="Rectangle 1032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00357D-6D3C-8D05-5928-B82F2A3443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4023360" cy="3204134"/>
          </a:xfrm>
        </p:spPr>
        <p:txBody>
          <a:bodyPr anchor="b">
            <a:normAutofit/>
          </a:bodyPr>
          <a:lstStyle/>
          <a:p>
            <a:pPr algn="l"/>
            <a:r>
              <a:rPr lang="sv-SE" sz="4400" dirty="0"/>
              <a:t>Klassificering</a:t>
            </a:r>
            <a:endParaRPr lang="en-US" sz="4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512326-AE3B-5A69-406A-690AB3B9A8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023359" cy="1208141"/>
          </a:xfrm>
        </p:spPr>
        <p:txBody>
          <a:bodyPr>
            <a:normAutofit/>
          </a:bodyPr>
          <a:lstStyle/>
          <a:p>
            <a:pPr algn="l"/>
            <a:r>
              <a:rPr lang="en-US" sz="1900" dirty="0"/>
              <a:t>Antonio Prgomet</a:t>
            </a:r>
          </a:p>
          <a:p>
            <a:pPr algn="l"/>
            <a:r>
              <a:rPr lang="en-US" sz="1900" dirty="0"/>
              <a:t>Delta AI &amp; Negotiations</a:t>
            </a:r>
            <a:endParaRPr lang="en-US" sz="1900" b="0" i="0" dirty="0">
              <a:effectLst/>
              <a:latin typeface="-apple-system"/>
              <a:hlinkClick r:id="rId3"/>
            </a:endParaRPr>
          </a:p>
          <a:p>
            <a:pPr algn="l"/>
            <a:r>
              <a:rPr lang="en-US" sz="1900" b="0" i="0" dirty="0">
                <a:effectLst/>
                <a:latin typeface="-apple-system"/>
                <a:hlinkClick r:id="rId3"/>
              </a:rPr>
              <a:t>www.linkedin.com/in/antonioprgomet</a:t>
            </a:r>
            <a:r>
              <a:rPr lang="en-US" sz="1900" b="0" i="0" dirty="0">
                <a:effectLst/>
                <a:latin typeface="-apple-system"/>
              </a:rPr>
              <a:t> </a:t>
            </a:r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191F68B-65E9-DFBA-E1C1-4FA3006690C7}"/>
              </a:ext>
            </a:extLst>
          </p:cNvPr>
          <p:cNvSpPr/>
          <p:nvPr/>
        </p:nvSpPr>
        <p:spPr>
          <a:xfrm>
            <a:off x="381740" y="390617"/>
            <a:ext cx="1136342" cy="58539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89690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87F4F1C-8D3D-4EC1-B72D-A0470A5A0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1E3DD61-64DB-46AD-B249-E273CD86B0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296011"/>
            <a:ext cx="12192000" cy="3561989"/>
            <a:chOff x="0" y="3296011"/>
            <a:chExt cx="12192000" cy="3561989"/>
          </a:xfrm>
          <a:effectLst>
            <a:outerShdw blurRad="254000" dist="152400" dir="16200000" rotWithShape="0">
              <a:prstClr val="black">
                <a:alpha val="10000"/>
              </a:prstClr>
            </a:outerShdw>
          </a:effectLst>
        </p:grpSpPr>
        <p:grpSp>
          <p:nvGrpSpPr>
            <p:cNvPr id="16" name="Group 9">
              <a:extLst>
                <a:ext uri="{FF2B5EF4-FFF2-40B4-BE49-F238E27FC236}">
                  <a16:creationId xmlns:a16="http://schemas.microsoft.com/office/drawing/2014/main" id="{0D7053D3-590A-4E94-B092-C96EAF744C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0" y="3681702"/>
              <a:ext cx="12192000" cy="3176298"/>
              <a:chOff x="0" y="3681702"/>
              <a:chExt cx="12192000" cy="3176298"/>
            </a:xfrm>
          </p:grpSpPr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2EB67199-6FF0-4DED-89D1-BAEA95F9F59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D1A0BEEB-C008-4150-A935-C6AAF537DA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bg1">
                  <a:alpha val="14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7" name="Group 10">
              <a:extLst>
                <a:ext uri="{FF2B5EF4-FFF2-40B4-BE49-F238E27FC236}">
                  <a16:creationId xmlns:a16="http://schemas.microsoft.com/office/drawing/2014/main" id="{05148B0F-801C-45A1-80C1-EEC25A22A7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44" y="3296011"/>
              <a:ext cx="12191456" cy="2849975"/>
              <a:chOff x="544" y="3296011"/>
              <a:chExt cx="12191456" cy="2849975"/>
            </a:xfrm>
          </p:grpSpPr>
          <p:sp>
            <p:nvSpPr>
              <p:cNvPr id="18" name="Freeform: Shape 11">
                <a:extLst>
                  <a:ext uri="{FF2B5EF4-FFF2-40B4-BE49-F238E27FC236}">
                    <a16:creationId xmlns:a16="http://schemas.microsoft.com/office/drawing/2014/main" id="{E7715ED9-C8CE-4651-82AA-1C4B5F14A03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B911230A-EF3B-4760-9087-E4FBE05BDC5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blipFill>
                <a:blip r:embed="rId2">
                  <a:alphaModFix amt="57000"/>
                </a:blip>
                <a:tile tx="0" ty="0" sx="100000" sy="100000" flip="none" algn="tl"/>
              </a:blip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" name="Rubrik 1">
            <a:extLst>
              <a:ext uri="{FF2B5EF4-FFF2-40B4-BE49-F238E27FC236}">
                <a16:creationId xmlns:a16="http://schemas.microsoft.com/office/drawing/2014/main" id="{875626A1-ED9F-F041-07DA-12DB11072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120676"/>
            <a:ext cx="7021513" cy="230832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1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Tillämpningsområden</a:t>
            </a:r>
          </a:p>
        </p:txBody>
      </p:sp>
    </p:spTree>
    <p:extLst>
      <p:ext uri="{BB962C8B-B14F-4D97-AF65-F5344CB8AC3E}">
        <p14:creationId xmlns:p14="http://schemas.microsoft.com/office/powerpoint/2010/main" val="29454523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D90727-F35F-5B9E-B6D3-FCA3850147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Tillämpningsområden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4163000-7A97-909D-052F-1E495602016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17236"/>
                <a:ext cx="10515600" cy="4351338"/>
              </a:xfrm>
            </p:spPr>
            <p:txBody>
              <a:bodyPr>
                <a:normAutofit fontScale="77500" lnSpcReduction="20000"/>
              </a:bodyPr>
              <a:lstStyle/>
              <a:p>
                <a:r>
                  <a:rPr lang="sv-SE" dirty="0"/>
                  <a:t>Klassificeringsmodeller har flertalet tillämpningsområden. </a:t>
                </a:r>
              </a:p>
              <a:p>
                <a:endParaRPr lang="sv-SE" dirty="0"/>
              </a:p>
              <a:p>
                <a:r>
                  <a:rPr lang="sv-SE" dirty="0"/>
                  <a:t>Kommer kunden ”</a:t>
                </a:r>
                <a:r>
                  <a:rPr lang="sv-SE" dirty="0" err="1"/>
                  <a:t>churna</a:t>
                </a:r>
                <a:r>
                  <a:rPr lang="sv-SE" dirty="0"/>
                  <a:t>”? </a:t>
                </a:r>
              </a:p>
              <a:p>
                <a:r>
                  <a:rPr lang="sv-SE" dirty="0"/>
                  <a:t>Kommer patienten överleva? </a:t>
                </a:r>
              </a:p>
              <a:p>
                <a:r>
                  <a:rPr lang="sv-SE" dirty="0"/>
                  <a:t>Är mejlet spam/inte spam? </a:t>
                </a:r>
              </a:p>
              <a:p>
                <a:r>
                  <a:rPr lang="sv-SE" dirty="0"/>
                  <a:t>Är det en man/kvinna på bilden? </a:t>
                </a:r>
              </a:p>
              <a:p>
                <a:endParaRPr lang="en-US" dirty="0"/>
              </a:p>
              <a:p>
                <a:r>
                  <a:rPr lang="en-US" dirty="0"/>
                  <a:t>I </a:t>
                </a:r>
                <a:r>
                  <a:rPr lang="en-US" dirty="0" err="1"/>
                  <a:t>exemplen</a:t>
                </a:r>
                <a:r>
                  <a:rPr lang="en-US" dirty="0"/>
                  <a:t> </a:t>
                </a:r>
                <a:r>
                  <a:rPr lang="en-US" dirty="0" err="1"/>
                  <a:t>ovan</a:t>
                </a:r>
                <a:r>
                  <a:rPr lang="en-US" dirty="0"/>
                  <a:t> </a:t>
                </a:r>
                <a:r>
                  <a:rPr lang="en-US" dirty="0" err="1"/>
                  <a:t>har</a:t>
                </a:r>
                <a:r>
                  <a:rPr lang="en-US" dirty="0"/>
                  <a:t> vi </a:t>
                </a:r>
                <a:r>
                  <a:rPr lang="en-US" dirty="0" err="1"/>
                  <a:t>binära</a:t>
                </a:r>
                <a:r>
                  <a:rPr lang="en-US" dirty="0"/>
                  <a:t> </a:t>
                </a:r>
                <a:r>
                  <a:rPr lang="en-US" dirty="0" err="1"/>
                  <a:t>klassificieringsproblem</a:t>
                </a:r>
                <a:r>
                  <a:rPr lang="en-US" dirty="0"/>
                  <a:t> (</a:t>
                </a:r>
                <a:r>
                  <a:rPr lang="en-US" dirty="0" err="1"/>
                  <a:t>två</a:t>
                </a:r>
                <a:r>
                  <a:rPr lang="en-US" dirty="0"/>
                  <a:t> </a:t>
                </a:r>
                <a:r>
                  <a:rPr lang="en-US" dirty="0" err="1"/>
                  <a:t>klasser</a:t>
                </a:r>
                <a:r>
                  <a:rPr lang="en-US" dirty="0"/>
                  <a:t>, JA/NEJ, MAN/KVINNA). </a:t>
                </a:r>
              </a:p>
              <a:p>
                <a:endParaRPr lang="en-US" dirty="0"/>
              </a:p>
              <a:p>
                <a:r>
                  <a:rPr lang="en-US" dirty="0"/>
                  <a:t>Vissa </a:t>
                </a:r>
                <a:r>
                  <a:rPr lang="en-US" dirty="0" err="1"/>
                  <a:t>modeller</a:t>
                </a:r>
                <a:r>
                  <a:rPr lang="en-US" dirty="0"/>
                  <a:t>, </a:t>
                </a:r>
                <a:r>
                  <a:rPr lang="en-US" dirty="0" err="1"/>
                  <a:t>t.ex</a:t>
                </a:r>
                <a:r>
                  <a:rPr lang="en-US" dirty="0"/>
                  <a:t>. </a:t>
                </a:r>
                <a:r>
                  <a:rPr lang="en-US" dirty="0" err="1"/>
                  <a:t>Logistisk</a:t>
                </a:r>
                <a:r>
                  <a:rPr lang="en-US" dirty="0"/>
                  <a:t> regression </a:t>
                </a:r>
                <a:r>
                  <a:rPr lang="en-US" dirty="0" err="1"/>
                  <a:t>kan</a:t>
                </a:r>
                <a:r>
                  <a:rPr lang="en-US" dirty="0"/>
                  <a:t> </a:t>
                </a:r>
                <a:r>
                  <a:rPr lang="en-US" dirty="0" err="1"/>
                  <a:t>skatta</a:t>
                </a:r>
                <a:r>
                  <a:rPr lang="en-US" dirty="0"/>
                  <a:t> </a:t>
                </a:r>
                <a:r>
                  <a:rPr lang="en-US" dirty="0" err="1"/>
                  <a:t>sannolikheter</a:t>
                </a:r>
                <a:r>
                  <a:rPr lang="en-US" dirty="0"/>
                  <a:t>. </a:t>
                </a:r>
                <a:r>
                  <a:rPr lang="en-US" dirty="0" err="1"/>
                  <a:t>Exempel</a:t>
                </a:r>
                <a:r>
                  <a:rPr lang="en-US" dirty="0"/>
                  <a:t>: </a:t>
                </a:r>
                <a:r>
                  <a:rPr lang="en-US" dirty="0" err="1"/>
                  <a:t>Sannolikheten</a:t>
                </a:r>
                <a:r>
                  <a:rPr lang="en-US" dirty="0"/>
                  <a:t> </a:t>
                </a:r>
                <a:r>
                  <a:rPr lang="en-US" dirty="0" err="1"/>
                  <a:t>att</a:t>
                </a:r>
                <a:r>
                  <a:rPr lang="en-US" dirty="0"/>
                  <a:t> </a:t>
                </a:r>
                <a:r>
                  <a:rPr lang="en-US" dirty="0" err="1"/>
                  <a:t>en</a:t>
                </a:r>
                <a:r>
                  <a:rPr lang="en-US" dirty="0"/>
                  <a:t> </a:t>
                </a:r>
                <a:r>
                  <a:rPr lang="en-US" dirty="0" err="1"/>
                  <a:t>kund</a:t>
                </a:r>
                <a:r>
                  <a:rPr lang="en-US" dirty="0"/>
                  <a:t> “churner” = 48%. </a:t>
                </a:r>
                <a:br>
                  <a:rPr lang="en-US" dirty="0"/>
                </a:br>
                <a:r>
                  <a:rPr lang="en-US" dirty="0"/>
                  <a:t>Om SLH </a:t>
                </a:r>
                <a14:m>
                  <m:oMath xmlns:m="http://schemas.openxmlformats.org/officeDocument/2006/math">
                    <m:r>
                      <a:rPr lang="en-US" dirty="0" smtClean="0"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dirty="0"/>
                  <a:t> 50 </a:t>
                </a:r>
                <a14:m>
                  <m:oMath xmlns:m="http://schemas.openxmlformats.org/officeDocument/2006/math">
                    <m:r>
                      <a:rPr lang="en-US" dirty="0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dirty="0"/>
                  <a:t> JA </a:t>
                </a:r>
                <a:r>
                  <a:rPr lang="en-US" dirty="0" err="1"/>
                  <a:t>annars</a:t>
                </a:r>
                <a:r>
                  <a:rPr lang="en-US" dirty="0"/>
                  <a:t> NEJ.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4163000-7A97-909D-052F-1E495602016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17236"/>
                <a:ext cx="10515600" cy="4351338"/>
              </a:xfrm>
              <a:blipFill>
                <a:blip r:embed="rId2"/>
                <a:stretch>
                  <a:fillRect l="-696" t="-2941" r="-754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002879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87F4F1C-8D3D-4EC1-B72D-A0470A5A0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1E3DD61-64DB-46AD-B249-E273CD86B0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296011"/>
            <a:ext cx="12192000" cy="3561989"/>
            <a:chOff x="0" y="3296011"/>
            <a:chExt cx="12192000" cy="3561989"/>
          </a:xfrm>
          <a:effectLst>
            <a:outerShdw blurRad="254000" dist="152400" dir="16200000" rotWithShape="0">
              <a:prstClr val="black">
                <a:alpha val="10000"/>
              </a:prstClr>
            </a:outerShdw>
          </a:effectLst>
        </p:grpSpPr>
        <p:grpSp>
          <p:nvGrpSpPr>
            <p:cNvPr id="16" name="Group 9">
              <a:extLst>
                <a:ext uri="{FF2B5EF4-FFF2-40B4-BE49-F238E27FC236}">
                  <a16:creationId xmlns:a16="http://schemas.microsoft.com/office/drawing/2014/main" id="{0D7053D3-590A-4E94-B092-C96EAF744C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0" y="3681702"/>
              <a:ext cx="12192000" cy="3176298"/>
              <a:chOff x="0" y="3681702"/>
              <a:chExt cx="12192000" cy="3176298"/>
            </a:xfrm>
          </p:grpSpPr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2EB67199-6FF0-4DED-89D1-BAEA95F9F59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D1A0BEEB-C008-4150-A935-C6AAF537DA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bg1">
                  <a:alpha val="14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7" name="Group 10">
              <a:extLst>
                <a:ext uri="{FF2B5EF4-FFF2-40B4-BE49-F238E27FC236}">
                  <a16:creationId xmlns:a16="http://schemas.microsoft.com/office/drawing/2014/main" id="{05148B0F-801C-45A1-80C1-EEC25A22A7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44" y="3296011"/>
              <a:ext cx="12191456" cy="2849975"/>
              <a:chOff x="544" y="3296011"/>
              <a:chExt cx="12191456" cy="2849975"/>
            </a:xfrm>
          </p:grpSpPr>
          <p:sp>
            <p:nvSpPr>
              <p:cNvPr id="18" name="Freeform: Shape 11">
                <a:extLst>
                  <a:ext uri="{FF2B5EF4-FFF2-40B4-BE49-F238E27FC236}">
                    <a16:creationId xmlns:a16="http://schemas.microsoft.com/office/drawing/2014/main" id="{E7715ED9-C8CE-4651-82AA-1C4B5F14A03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B911230A-EF3B-4760-9087-E4FBE05BDC5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blipFill>
                <a:blip r:embed="rId2">
                  <a:alphaModFix amt="57000"/>
                </a:blip>
                <a:tile tx="0" ty="0" sx="100000" sy="100000" flip="none" algn="tl"/>
              </a:blip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2" name="Rubrik 1">
            <a:extLst>
              <a:ext uri="{FF2B5EF4-FFF2-40B4-BE49-F238E27FC236}">
                <a16:creationId xmlns:a16="http://schemas.microsoft.com/office/drawing/2014/main" id="{875626A1-ED9F-F041-07DA-12DB11072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120676"/>
            <a:ext cx="7021513" cy="230832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1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Utvärdering</a:t>
            </a:r>
            <a:endParaRPr lang="en-US" sz="61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3878735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E0A43-1955-2E23-ABEF-7E5CE8B4E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Utvärdering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D697EF-F75A-354C-B3ED-CBF3F6A2C0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v-SE" dirty="0"/>
              <a:t>Att utvärdera en klassificeringsmodell är inte trivialt. </a:t>
            </a:r>
          </a:p>
          <a:p>
            <a:endParaRPr lang="sv-SE" dirty="0"/>
          </a:p>
          <a:p>
            <a:pPr>
              <a:buFont typeface="Wingdings" panose="05000000000000000000" pitchFamily="2" charset="2"/>
              <a:buChar char="Ø"/>
            </a:pPr>
            <a:r>
              <a:rPr lang="sv-SE" dirty="0"/>
              <a:t>Exempel: Kalle är blind och han påstår sig ha en magisk förmåga att kunna ”se” om någon har på sig en röd skjorta.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sv-SE" dirty="0"/>
              <a:t>För att utvärdera Kalle tar man slumpmässigt fram 100 personer och ber honom berätta ifall personerna har en röd skjorta på sig.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sv-SE" dirty="0"/>
              <a:t>Kalle predikterar 100% rätt! </a:t>
            </a:r>
            <a:r>
              <a:rPr lang="en-US" dirty="0" err="1"/>
              <a:t>Hur</a:t>
            </a:r>
            <a:r>
              <a:rPr lang="en-US" dirty="0"/>
              <a:t> </a:t>
            </a:r>
            <a:r>
              <a:rPr lang="en-US" dirty="0" err="1"/>
              <a:t>är</a:t>
            </a:r>
            <a:r>
              <a:rPr lang="en-US" dirty="0"/>
              <a:t> det </a:t>
            </a:r>
            <a:r>
              <a:rPr lang="en-US" dirty="0" err="1"/>
              <a:t>möjligt</a:t>
            </a:r>
            <a:r>
              <a:rPr lang="en-US" dirty="0"/>
              <a:t>?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53311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E0A43-1955-2E23-ABEF-7E5CE8B4E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Utvärdering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D697EF-F75A-354C-B3ED-CBF3F6A2C0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sv-SE" sz="1900" dirty="0"/>
              <a:t>Att utvärdera en klassificeringsmodeller är inte trivialt. </a:t>
            </a:r>
          </a:p>
          <a:p>
            <a:endParaRPr lang="sv-SE" sz="1900" dirty="0"/>
          </a:p>
          <a:p>
            <a:pPr>
              <a:buFont typeface="Wingdings" panose="05000000000000000000" pitchFamily="2" charset="2"/>
              <a:buChar char="Ø"/>
            </a:pPr>
            <a:r>
              <a:rPr lang="sv-SE" sz="1900" dirty="0"/>
              <a:t>Exempel: Kalle är blind och han påstår sig ha en magisk förmåga att kunna ”se” om någon har på sig en röd skjorta.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sv-SE" sz="1900" dirty="0"/>
              <a:t>För att utvärdera Kalle tar man slumpmässigt fram 100 personer och ber honom berätta ifall personerna har en röd skjorta på sig.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sv-SE" sz="1900" dirty="0"/>
              <a:t>Kalle gissar 100% rätt! </a:t>
            </a:r>
            <a:r>
              <a:rPr lang="en-US" sz="1900" dirty="0" err="1"/>
              <a:t>Hur</a:t>
            </a:r>
            <a:r>
              <a:rPr lang="en-US" sz="1900" dirty="0"/>
              <a:t> </a:t>
            </a:r>
            <a:r>
              <a:rPr lang="en-US" sz="1900" dirty="0" err="1"/>
              <a:t>är</a:t>
            </a:r>
            <a:r>
              <a:rPr lang="en-US" sz="1900" dirty="0"/>
              <a:t> det </a:t>
            </a:r>
            <a:r>
              <a:rPr lang="en-US" sz="1900" dirty="0" err="1"/>
              <a:t>möjligt</a:t>
            </a:r>
            <a:r>
              <a:rPr lang="en-US" sz="1900" dirty="0"/>
              <a:t>? 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 err="1"/>
              <a:t>Få</a:t>
            </a:r>
            <a:r>
              <a:rPr lang="en-US" dirty="0"/>
              <a:t> </a:t>
            </a:r>
            <a:r>
              <a:rPr lang="sv-SE" dirty="0"/>
              <a:t>personer</a:t>
            </a:r>
            <a:r>
              <a:rPr lang="en-US" dirty="0"/>
              <a:t> </a:t>
            </a:r>
            <a:r>
              <a:rPr lang="en-US" dirty="0" err="1"/>
              <a:t>har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röd</a:t>
            </a:r>
            <a:r>
              <a:rPr lang="en-US" dirty="0"/>
              <a:t> </a:t>
            </a:r>
            <a:r>
              <a:rPr lang="en-US" dirty="0" err="1"/>
              <a:t>skjorta</a:t>
            </a:r>
            <a:r>
              <a:rPr lang="en-US" dirty="0"/>
              <a:t>, </a:t>
            </a:r>
            <a:r>
              <a:rPr lang="en-US" dirty="0" err="1"/>
              <a:t>genom</a:t>
            </a:r>
            <a:r>
              <a:rPr lang="en-US" dirty="0"/>
              <a:t> </a:t>
            </a:r>
            <a:r>
              <a:rPr lang="en-US" dirty="0" err="1"/>
              <a:t>att</a:t>
            </a:r>
            <a:r>
              <a:rPr lang="en-US" dirty="0"/>
              <a:t> </a:t>
            </a:r>
            <a:r>
              <a:rPr lang="en-US" dirty="0" err="1"/>
              <a:t>alltid</a:t>
            </a:r>
            <a:r>
              <a:rPr lang="en-US" dirty="0"/>
              <a:t> </a:t>
            </a:r>
            <a:r>
              <a:rPr lang="en-US" dirty="0" err="1"/>
              <a:t>gissa</a:t>
            </a:r>
            <a:r>
              <a:rPr lang="en-US" dirty="0"/>
              <a:t> “NEJ” </a:t>
            </a:r>
            <a:r>
              <a:rPr lang="en-US" dirty="0" err="1"/>
              <a:t>så</a:t>
            </a:r>
            <a:r>
              <a:rPr lang="en-US" dirty="0"/>
              <a:t> </a:t>
            </a:r>
            <a:r>
              <a:rPr lang="en-US" dirty="0" err="1"/>
              <a:t>kommer</a:t>
            </a:r>
            <a:r>
              <a:rPr lang="en-US" dirty="0"/>
              <a:t> </a:t>
            </a:r>
            <a:r>
              <a:rPr lang="en-US" dirty="0" err="1"/>
              <a:t>han</a:t>
            </a:r>
            <a:r>
              <a:rPr lang="en-US" dirty="0"/>
              <a:t> av </a:t>
            </a:r>
            <a:r>
              <a:rPr lang="en-US" dirty="0" err="1"/>
              <a:t>enkel</a:t>
            </a:r>
            <a:r>
              <a:rPr lang="en-US" dirty="0"/>
              <a:t> </a:t>
            </a:r>
            <a:r>
              <a:rPr lang="en-US" dirty="0" err="1"/>
              <a:t>sannolikhetslära</a:t>
            </a:r>
            <a:r>
              <a:rPr lang="en-US" dirty="0"/>
              <a:t> </a:t>
            </a:r>
            <a:r>
              <a:rPr lang="en-US" dirty="0" err="1"/>
              <a:t>att</a:t>
            </a:r>
            <a:r>
              <a:rPr lang="en-US" dirty="0"/>
              <a:t> </a:t>
            </a:r>
            <a:r>
              <a:rPr lang="en-US" dirty="0" err="1"/>
              <a:t>oftast</a:t>
            </a:r>
            <a:r>
              <a:rPr lang="en-US" dirty="0"/>
              <a:t> </a:t>
            </a:r>
            <a:r>
              <a:rPr lang="en-US" dirty="0" err="1"/>
              <a:t>gissa</a:t>
            </a:r>
            <a:r>
              <a:rPr lang="en-US" dirty="0"/>
              <a:t> </a:t>
            </a:r>
            <a:r>
              <a:rPr lang="en-US" dirty="0" err="1"/>
              <a:t>rätt</a:t>
            </a:r>
            <a:r>
              <a:rPr lang="en-US" dirty="0"/>
              <a:t>. </a:t>
            </a:r>
          </a:p>
          <a:p>
            <a:r>
              <a:rPr lang="en-US" dirty="0" err="1"/>
              <a:t>Exemplet</a:t>
            </a:r>
            <a:r>
              <a:rPr lang="en-US" dirty="0"/>
              <a:t> </a:t>
            </a:r>
            <a:r>
              <a:rPr lang="en-US" dirty="0" err="1"/>
              <a:t>belyser</a:t>
            </a:r>
            <a:r>
              <a:rPr lang="en-US" dirty="0"/>
              <a:t> </a:t>
            </a:r>
            <a:r>
              <a:rPr lang="en-US" dirty="0" err="1"/>
              <a:t>svårigheten</a:t>
            </a:r>
            <a:r>
              <a:rPr lang="en-US" dirty="0"/>
              <a:t> </a:t>
            </a:r>
            <a:r>
              <a:rPr lang="en-US" dirty="0" err="1"/>
              <a:t>att</a:t>
            </a:r>
            <a:r>
              <a:rPr lang="en-US" dirty="0"/>
              <a:t> </a:t>
            </a:r>
            <a:r>
              <a:rPr lang="en-US" dirty="0" err="1"/>
              <a:t>utvärdera</a:t>
            </a:r>
            <a:r>
              <a:rPr lang="en-US" dirty="0"/>
              <a:t> </a:t>
            </a:r>
            <a:r>
              <a:rPr lang="sv-SE" dirty="0" err="1"/>
              <a:t>klassificieringsmodeller</a:t>
            </a:r>
            <a:r>
              <a:rPr lang="en-US" dirty="0"/>
              <a:t> </a:t>
            </a:r>
            <a:r>
              <a:rPr lang="en-US" dirty="0" err="1"/>
              <a:t>när</a:t>
            </a:r>
            <a:r>
              <a:rPr lang="en-US" dirty="0"/>
              <a:t> vi </a:t>
            </a:r>
            <a:r>
              <a:rPr lang="en-US" dirty="0" err="1"/>
              <a:t>har</a:t>
            </a:r>
            <a:r>
              <a:rPr lang="en-US" dirty="0"/>
              <a:t> </a:t>
            </a:r>
            <a:r>
              <a:rPr lang="en-US" dirty="0" err="1"/>
              <a:t>obalanserad</a:t>
            </a:r>
            <a:r>
              <a:rPr lang="en-US" dirty="0"/>
              <a:t> (“skewed”) data. </a:t>
            </a:r>
          </a:p>
          <a:p>
            <a:r>
              <a:rPr lang="en-US" dirty="0"/>
              <a:t>“Confusion Matrix” </a:t>
            </a:r>
            <a:r>
              <a:rPr lang="en-US" dirty="0" err="1"/>
              <a:t>räddar</a:t>
            </a:r>
            <a:r>
              <a:rPr lang="en-US" dirty="0"/>
              <a:t> </a:t>
            </a:r>
            <a:r>
              <a:rPr lang="en-US" dirty="0" err="1"/>
              <a:t>dagen</a:t>
            </a:r>
            <a:r>
              <a:rPr lang="en-US" dirty="0"/>
              <a:t>! </a:t>
            </a:r>
          </a:p>
        </p:txBody>
      </p:sp>
    </p:spTree>
    <p:extLst>
      <p:ext uri="{BB962C8B-B14F-4D97-AF65-F5344CB8AC3E}">
        <p14:creationId xmlns:p14="http://schemas.microsoft.com/office/powerpoint/2010/main" val="15444625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87F4F1C-8D3D-4EC1-B72D-A0470A5A0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1E3DD61-64DB-46AD-B249-E273CD86B0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296011"/>
            <a:ext cx="12192000" cy="3561989"/>
            <a:chOff x="0" y="3296011"/>
            <a:chExt cx="12192000" cy="3561989"/>
          </a:xfrm>
          <a:effectLst>
            <a:outerShdw blurRad="254000" dist="152400" dir="16200000" rotWithShape="0">
              <a:prstClr val="black">
                <a:alpha val="10000"/>
              </a:prstClr>
            </a:outerShdw>
          </a:effectLst>
        </p:grpSpPr>
        <p:grpSp>
          <p:nvGrpSpPr>
            <p:cNvPr id="16" name="Group 9">
              <a:extLst>
                <a:ext uri="{FF2B5EF4-FFF2-40B4-BE49-F238E27FC236}">
                  <a16:creationId xmlns:a16="http://schemas.microsoft.com/office/drawing/2014/main" id="{0D7053D3-590A-4E94-B092-C96EAF744C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0" y="3681702"/>
              <a:ext cx="12192000" cy="3176298"/>
              <a:chOff x="0" y="3681702"/>
              <a:chExt cx="12192000" cy="3176298"/>
            </a:xfrm>
          </p:grpSpPr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2EB67199-6FF0-4DED-89D1-BAEA95F9F59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D1A0BEEB-C008-4150-A935-C6AAF537DA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bg1">
                  <a:alpha val="14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7" name="Group 10">
              <a:extLst>
                <a:ext uri="{FF2B5EF4-FFF2-40B4-BE49-F238E27FC236}">
                  <a16:creationId xmlns:a16="http://schemas.microsoft.com/office/drawing/2014/main" id="{05148B0F-801C-45A1-80C1-EEC25A22A7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44" y="3296011"/>
              <a:ext cx="12191456" cy="2849975"/>
              <a:chOff x="544" y="3296011"/>
              <a:chExt cx="12191456" cy="2849975"/>
            </a:xfrm>
          </p:grpSpPr>
          <p:sp>
            <p:nvSpPr>
              <p:cNvPr id="18" name="Freeform: Shape 11">
                <a:extLst>
                  <a:ext uri="{FF2B5EF4-FFF2-40B4-BE49-F238E27FC236}">
                    <a16:creationId xmlns:a16="http://schemas.microsoft.com/office/drawing/2014/main" id="{E7715ED9-C8CE-4651-82AA-1C4B5F14A03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B911230A-EF3B-4760-9087-E4FBE05BDC5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blipFill>
                <a:blip r:embed="rId2">
                  <a:alphaModFix amt="57000"/>
                </a:blip>
                <a:tile tx="0" ty="0" sx="100000" sy="100000" flip="none" algn="tl"/>
              </a:blip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2" name="Rubrik 1">
            <a:extLst>
              <a:ext uri="{FF2B5EF4-FFF2-40B4-BE49-F238E27FC236}">
                <a16:creationId xmlns:a16="http://schemas.microsoft.com/office/drawing/2014/main" id="{875626A1-ED9F-F041-07DA-12DB11072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120676"/>
            <a:ext cx="7021513" cy="230832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1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Confusion Matrix</a:t>
            </a:r>
          </a:p>
        </p:txBody>
      </p:sp>
    </p:spTree>
    <p:extLst>
      <p:ext uri="{BB962C8B-B14F-4D97-AF65-F5344CB8AC3E}">
        <p14:creationId xmlns:p14="http://schemas.microsoft.com/office/powerpoint/2010/main" val="15317080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56366C4-A152-B9E8-F1C9-B0D4FE62A1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sv-SE"/>
              <a:t>Confusion Matrix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509F78-6EBB-D52A-F977-B971AB0608F0}"/>
              </a:ext>
            </a:extLst>
          </p:cNvPr>
          <p:cNvSpPr txBox="1"/>
          <p:nvPr/>
        </p:nvSpPr>
        <p:spPr>
          <a:xfrm>
            <a:off x="86649" y="1138028"/>
            <a:ext cx="4059634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b="1" dirty="0"/>
              <a:t>TN: Predikterat negativt och det är rätt. </a:t>
            </a:r>
            <a:r>
              <a:rPr lang="sv-SE" b="1" dirty="0">
                <a:sym typeface="Wingdings" panose="05000000000000000000" pitchFamily="2" charset="2"/>
              </a:rPr>
              <a:t> </a:t>
            </a:r>
            <a:endParaRPr lang="sv-SE" b="1" dirty="0"/>
          </a:p>
          <a:p>
            <a:r>
              <a:rPr lang="sv-SE" dirty="0"/>
              <a:t>Ex: Predikterat att en person inte har en röd skjorta och personen har faktiskt inte det. </a:t>
            </a:r>
          </a:p>
          <a:p>
            <a:endParaRPr lang="sv-SE" dirty="0"/>
          </a:p>
          <a:p>
            <a:r>
              <a:rPr lang="sv-SE" b="1" dirty="0"/>
              <a:t>FN: Predikterat negativt och det är falskt. </a:t>
            </a:r>
            <a:r>
              <a:rPr lang="sv-SE" b="1" dirty="0">
                <a:sym typeface="Wingdings" panose="05000000000000000000" pitchFamily="2" charset="2"/>
              </a:rPr>
              <a:t> </a:t>
            </a:r>
            <a:endParaRPr lang="sv-SE" b="1" dirty="0"/>
          </a:p>
          <a:p>
            <a:r>
              <a:rPr lang="sv-SE" dirty="0"/>
              <a:t>Ex: Predikterat att en person inte har en röd skjorta men personen har det. </a:t>
            </a:r>
          </a:p>
          <a:p>
            <a:endParaRPr lang="sv-SE" dirty="0"/>
          </a:p>
          <a:p>
            <a:r>
              <a:rPr lang="sv-SE" b="1" dirty="0"/>
              <a:t>FP: Predikterat positivt och det är falskt. </a:t>
            </a:r>
            <a:r>
              <a:rPr lang="sv-SE" b="1" dirty="0">
                <a:sym typeface="Wingdings" panose="05000000000000000000" pitchFamily="2" charset="2"/>
              </a:rPr>
              <a:t></a:t>
            </a:r>
            <a:endParaRPr lang="sv-SE" b="1" dirty="0"/>
          </a:p>
          <a:p>
            <a:r>
              <a:rPr lang="sv-SE" dirty="0"/>
              <a:t>Ex: Predikterat att en person har en röd skjorta men personen har inte det.</a:t>
            </a:r>
          </a:p>
          <a:p>
            <a:endParaRPr lang="sv-SE" dirty="0"/>
          </a:p>
          <a:p>
            <a:r>
              <a:rPr lang="sv-SE" b="1" dirty="0"/>
              <a:t>TP: Predikterat positivt och det är rätt. </a:t>
            </a:r>
            <a:r>
              <a:rPr lang="sv-SE" b="1" dirty="0">
                <a:sym typeface="Wingdings" panose="05000000000000000000" pitchFamily="2" charset="2"/>
              </a:rPr>
              <a:t></a:t>
            </a:r>
          </a:p>
          <a:p>
            <a:r>
              <a:rPr lang="sv-SE" dirty="0">
                <a:sym typeface="Wingdings" panose="05000000000000000000" pitchFamily="2" charset="2"/>
              </a:rPr>
              <a:t>Ex: Predikterat att en person har en röd skjorta och personen har faktiskt det. </a:t>
            </a: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3258E3B-2214-A908-3DD2-936689C5F0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7436" y="1352632"/>
            <a:ext cx="7887915" cy="4440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87386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807A3-798E-B848-55E7-0A41BECF7F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Exempel: </a:t>
            </a:r>
            <a:r>
              <a:rPr lang="sv-SE" dirty="0" err="1"/>
              <a:t>Confusion</a:t>
            </a:r>
            <a:r>
              <a:rPr lang="sv-SE" dirty="0"/>
              <a:t> Matrix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5C7D8A-D7C5-2332-85E3-88925E4C09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v-SE" dirty="0"/>
              <a:t>Exempel: Vi validerar en modell på ett </a:t>
            </a:r>
            <a:br>
              <a:rPr lang="sv-SE" dirty="0"/>
            </a:br>
            <a:r>
              <a:rPr lang="sv-SE" dirty="0" err="1"/>
              <a:t>dataset</a:t>
            </a:r>
            <a:r>
              <a:rPr lang="sv-SE" dirty="0"/>
              <a:t> med 165 </a:t>
            </a:r>
            <a:r>
              <a:rPr lang="sv-SE" dirty="0" err="1"/>
              <a:t>st</a:t>
            </a:r>
            <a:r>
              <a:rPr lang="sv-SE" dirty="0"/>
              <a:t> observationer.</a:t>
            </a:r>
          </a:p>
          <a:p>
            <a:r>
              <a:rPr lang="sv-SE" dirty="0"/>
              <a:t>Vi predikterar om en patient kommer</a:t>
            </a:r>
            <a:br>
              <a:rPr lang="sv-SE" dirty="0"/>
            </a:br>
            <a:r>
              <a:rPr lang="sv-SE" dirty="0"/>
              <a:t>avlida (</a:t>
            </a:r>
            <a:r>
              <a:rPr lang="sv-SE" dirty="0" err="1"/>
              <a:t>Actual</a:t>
            </a:r>
            <a:r>
              <a:rPr lang="sv-SE" dirty="0"/>
              <a:t> = YES) eller inte avlida, </a:t>
            </a:r>
            <a:br>
              <a:rPr lang="sv-SE" dirty="0"/>
            </a:br>
            <a:r>
              <a:rPr lang="sv-SE" dirty="0"/>
              <a:t>d.v.s. överleva (</a:t>
            </a:r>
            <a:r>
              <a:rPr lang="sv-SE" dirty="0" err="1"/>
              <a:t>Actual</a:t>
            </a:r>
            <a:r>
              <a:rPr lang="sv-SE" dirty="0"/>
              <a:t> = NO).</a:t>
            </a:r>
          </a:p>
          <a:p>
            <a:endParaRPr lang="sv-SE" dirty="0"/>
          </a:p>
          <a:p>
            <a:r>
              <a:rPr lang="sv-SE" dirty="0"/>
              <a:t> Se ”</a:t>
            </a:r>
            <a:r>
              <a:rPr lang="sv-SE" dirty="0" err="1"/>
              <a:t>confusion</a:t>
            </a:r>
            <a:r>
              <a:rPr lang="sv-SE" dirty="0"/>
              <a:t> matrix” till höger, </a:t>
            </a:r>
            <a:br>
              <a:rPr lang="sv-SE" dirty="0"/>
            </a:br>
            <a:r>
              <a:rPr lang="sv-SE" dirty="0"/>
              <a:t>vad är dina slutsatser?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0DE93D-9780-466B-F5B5-F944E44814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8643" y="2420152"/>
            <a:ext cx="5044176" cy="2744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33422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807A3-798E-B848-55E7-0A41BECF7F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8492"/>
            <a:ext cx="10515600" cy="1325563"/>
          </a:xfrm>
        </p:spPr>
        <p:txBody>
          <a:bodyPr/>
          <a:lstStyle/>
          <a:p>
            <a:r>
              <a:rPr lang="sv-SE" dirty="0"/>
              <a:t>Exempel: </a:t>
            </a:r>
            <a:r>
              <a:rPr lang="sv-SE" dirty="0" err="1"/>
              <a:t>Confusion</a:t>
            </a:r>
            <a:r>
              <a:rPr lang="sv-SE" dirty="0"/>
              <a:t> Matrix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5C7D8A-D7C5-2332-85E3-88925E4C09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sv-SE" dirty="0"/>
              <a:t>Vi predikterar om en patient kommer</a:t>
            </a:r>
            <a:br>
              <a:rPr lang="sv-SE" dirty="0"/>
            </a:br>
            <a:r>
              <a:rPr lang="sv-SE" dirty="0"/>
              <a:t>avlida (</a:t>
            </a:r>
            <a:r>
              <a:rPr lang="sv-SE" dirty="0" err="1"/>
              <a:t>Actual</a:t>
            </a:r>
            <a:r>
              <a:rPr lang="sv-SE" dirty="0"/>
              <a:t> = YES) eller inte avlida, </a:t>
            </a:r>
            <a:br>
              <a:rPr lang="sv-SE" dirty="0"/>
            </a:br>
            <a:r>
              <a:rPr lang="sv-SE" dirty="0"/>
              <a:t>d.v.s. överleva (</a:t>
            </a:r>
            <a:r>
              <a:rPr lang="sv-SE" dirty="0" err="1"/>
              <a:t>Actual</a:t>
            </a:r>
            <a:r>
              <a:rPr lang="sv-SE" dirty="0"/>
              <a:t> = NO).</a:t>
            </a:r>
          </a:p>
          <a:p>
            <a:endParaRPr lang="sv-SE" dirty="0"/>
          </a:p>
          <a:p>
            <a:pPr marL="0" indent="0">
              <a:buNone/>
            </a:pPr>
            <a:endParaRPr lang="sv-SE" dirty="0"/>
          </a:p>
          <a:p>
            <a:pPr>
              <a:buFont typeface="Wingdings" panose="05000000000000000000" pitchFamily="2" charset="2"/>
              <a:buChar char="Ø"/>
            </a:pPr>
            <a:r>
              <a:rPr lang="sv-SE" dirty="0"/>
              <a:t>50 patienter överlever och vi predikterar korrekt.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sv-SE" dirty="0"/>
              <a:t>100 patienter avlider och vi predikterar korrekt. </a:t>
            </a:r>
            <a:br>
              <a:rPr lang="sv-SE" dirty="0"/>
            </a:br>
            <a:endParaRPr lang="sv-SE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5 </a:t>
            </a:r>
            <a:r>
              <a:rPr lang="en-US" dirty="0" err="1"/>
              <a:t>patienter</a:t>
            </a:r>
            <a:r>
              <a:rPr lang="en-US" dirty="0"/>
              <a:t> </a:t>
            </a:r>
            <a:r>
              <a:rPr lang="en-US" dirty="0" err="1"/>
              <a:t>dör</a:t>
            </a:r>
            <a:r>
              <a:rPr lang="en-US" dirty="0"/>
              <a:t> trots </a:t>
            </a:r>
            <a:r>
              <a:rPr lang="en-US" dirty="0" err="1"/>
              <a:t>att</a:t>
            </a:r>
            <a:r>
              <a:rPr lang="en-US" dirty="0"/>
              <a:t> vi </a:t>
            </a:r>
            <a:r>
              <a:rPr lang="en-US" dirty="0" err="1"/>
              <a:t>predikterar</a:t>
            </a:r>
            <a:r>
              <a:rPr lang="en-US" dirty="0"/>
              <a:t> </a:t>
            </a:r>
            <a:r>
              <a:rPr lang="en-US" dirty="0" err="1"/>
              <a:t>att</a:t>
            </a:r>
            <a:r>
              <a:rPr lang="en-US" dirty="0"/>
              <a:t> de </a:t>
            </a:r>
            <a:r>
              <a:rPr lang="en-US" dirty="0" err="1"/>
              <a:t>kommer</a:t>
            </a:r>
            <a:r>
              <a:rPr lang="en-US" dirty="0"/>
              <a:t> </a:t>
            </a:r>
            <a:r>
              <a:rPr lang="en-US" dirty="0" err="1"/>
              <a:t>överleva</a:t>
            </a:r>
            <a:r>
              <a:rPr lang="en-US" dirty="0"/>
              <a:t>. </a:t>
            </a:r>
            <a:r>
              <a:rPr lang="en-US" dirty="0" err="1"/>
              <a:t>Vår</a:t>
            </a:r>
            <a:r>
              <a:rPr lang="en-US" dirty="0"/>
              <a:t> </a:t>
            </a:r>
            <a:r>
              <a:rPr lang="en-US" dirty="0" err="1"/>
              <a:t>felaktiga</a:t>
            </a:r>
            <a:r>
              <a:rPr lang="en-US" dirty="0"/>
              <a:t> </a:t>
            </a:r>
            <a:r>
              <a:rPr lang="en-US" dirty="0" err="1"/>
              <a:t>prediktion</a:t>
            </a:r>
            <a:r>
              <a:rPr lang="en-US" dirty="0"/>
              <a:t> </a:t>
            </a:r>
            <a:r>
              <a:rPr lang="en-US" dirty="0" err="1"/>
              <a:t>kanske</a:t>
            </a:r>
            <a:r>
              <a:rPr lang="en-US" dirty="0"/>
              <a:t> </a:t>
            </a:r>
            <a:r>
              <a:rPr lang="en-US" dirty="0" err="1"/>
              <a:t>medför</a:t>
            </a:r>
            <a:r>
              <a:rPr lang="en-US" dirty="0"/>
              <a:t> </a:t>
            </a:r>
            <a:r>
              <a:rPr lang="en-US" dirty="0" err="1"/>
              <a:t>att</a:t>
            </a:r>
            <a:r>
              <a:rPr lang="en-US" dirty="0"/>
              <a:t> man </a:t>
            </a:r>
            <a:r>
              <a:rPr lang="en-US" dirty="0" err="1"/>
              <a:t>inte</a:t>
            </a:r>
            <a:r>
              <a:rPr lang="en-US" dirty="0"/>
              <a:t> </a:t>
            </a:r>
            <a:r>
              <a:rPr lang="en-US" dirty="0" err="1"/>
              <a:t>gör</a:t>
            </a:r>
            <a:r>
              <a:rPr lang="en-US" dirty="0"/>
              <a:t> </a:t>
            </a:r>
            <a:r>
              <a:rPr lang="en-US" dirty="0" err="1"/>
              <a:t>rätt</a:t>
            </a:r>
            <a:r>
              <a:rPr lang="en-US" dirty="0"/>
              <a:t> </a:t>
            </a:r>
            <a:r>
              <a:rPr lang="en-US" dirty="0" err="1"/>
              <a:t>åtgärder</a:t>
            </a:r>
            <a:r>
              <a:rPr lang="en-US" dirty="0"/>
              <a:t>?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10 </a:t>
            </a:r>
            <a:r>
              <a:rPr lang="en-US" dirty="0" err="1"/>
              <a:t>patienter</a:t>
            </a:r>
            <a:r>
              <a:rPr lang="en-US" dirty="0"/>
              <a:t> </a:t>
            </a:r>
            <a:r>
              <a:rPr lang="en-US" dirty="0" err="1"/>
              <a:t>överlever</a:t>
            </a:r>
            <a:r>
              <a:rPr lang="en-US" dirty="0"/>
              <a:t> men vi </a:t>
            </a:r>
            <a:r>
              <a:rPr lang="en-US" dirty="0" err="1"/>
              <a:t>predikterar</a:t>
            </a:r>
            <a:r>
              <a:rPr lang="en-US" dirty="0"/>
              <a:t> </a:t>
            </a:r>
            <a:r>
              <a:rPr lang="en-US" dirty="0" err="1"/>
              <a:t>att</a:t>
            </a:r>
            <a:r>
              <a:rPr lang="en-US" dirty="0"/>
              <a:t> de </a:t>
            </a:r>
            <a:r>
              <a:rPr lang="en-US" dirty="0" err="1"/>
              <a:t>kommer</a:t>
            </a:r>
            <a:r>
              <a:rPr lang="en-US" dirty="0"/>
              <a:t> </a:t>
            </a:r>
            <a:r>
              <a:rPr lang="en-US" dirty="0" err="1"/>
              <a:t>avlida</a:t>
            </a:r>
            <a:r>
              <a:rPr lang="en-US" dirty="0"/>
              <a:t>. </a:t>
            </a:r>
            <a:r>
              <a:rPr lang="en-US" dirty="0" err="1"/>
              <a:t>Fel</a:t>
            </a:r>
            <a:r>
              <a:rPr lang="en-US" dirty="0"/>
              <a:t> </a:t>
            </a:r>
            <a:r>
              <a:rPr lang="en-US" dirty="0" err="1"/>
              <a:t>slutsats</a:t>
            </a:r>
            <a:r>
              <a:rPr lang="en-US" dirty="0"/>
              <a:t> men </a:t>
            </a:r>
            <a:r>
              <a:rPr lang="en-US" dirty="0" err="1"/>
              <a:t>bättre</a:t>
            </a:r>
            <a:r>
              <a:rPr lang="en-US" dirty="0"/>
              <a:t> </a:t>
            </a:r>
            <a:r>
              <a:rPr lang="en-US" dirty="0" err="1"/>
              <a:t>att</a:t>
            </a:r>
            <a:r>
              <a:rPr lang="en-US" dirty="0"/>
              <a:t> </a:t>
            </a:r>
            <a:r>
              <a:rPr lang="en-US" dirty="0" err="1"/>
              <a:t>vara</a:t>
            </a:r>
            <a:r>
              <a:rPr lang="en-US" dirty="0"/>
              <a:t> “</a:t>
            </a:r>
            <a:r>
              <a:rPr lang="en-US" dirty="0" err="1"/>
              <a:t>försiktig</a:t>
            </a:r>
            <a:r>
              <a:rPr lang="en-US" dirty="0"/>
              <a:t>”. 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7EAECD3-B1C9-451B-E7DD-03E9F44EAF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4696" y="1825625"/>
            <a:ext cx="4410075" cy="233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25933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87F4F1C-8D3D-4EC1-B72D-A0470A5A0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1E3DD61-64DB-46AD-B249-E273CD86B0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296011"/>
            <a:ext cx="12192000" cy="3561989"/>
            <a:chOff x="0" y="3296011"/>
            <a:chExt cx="12192000" cy="3561989"/>
          </a:xfrm>
          <a:effectLst>
            <a:outerShdw blurRad="254000" dist="152400" dir="16200000" rotWithShape="0">
              <a:prstClr val="black">
                <a:alpha val="10000"/>
              </a:prstClr>
            </a:outerShdw>
          </a:effectLst>
        </p:grpSpPr>
        <p:grpSp>
          <p:nvGrpSpPr>
            <p:cNvPr id="16" name="Group 9">
              <a:extLst>
                <a:ext uri="{FF2B5EF4-FFF2-40B4-BE49-F238E27FC236}">
                  <a16:creationId xmlns:a16="http://schemas.microsoft.com/office/drawing/2014/main" id="{0D7053D3-590A-4E94-B092-C96EAF744C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0" y="3681702"/>
              <a:ext cx="12192000" cy="3176298"/>
              <a:chOff x="0" y="3681702"/>
              <a:chExt cx="12192000" cy="3176298"/>
            </a:xfrm>
          </p:grpSpPr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2EB67199-6FF0-4DED-89D1-BAEA95F9F59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D1A0BEEB-C008-4150-A935-C6AAF537DA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bg1">
                  <a:alpha val="14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7" name="Group 10">
              <a:extLst>
                <a:ext uri="{FF2B5EF4-FFF2-40B4-BE49-F238E27FC236}">
                  <a16:creationId xmlns:a16="http://schemas.microsoft.com/office/drawing/2014/main" id="{05148B0F-801C-45A1-80C1-EEC25A22A7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44" y="3296011"/>
              <a:ext cx="12191456" cy="2849975"/>
              <a:chOff x="544" y="3296011"/>
              <a:chExt cx="12191456" cy="2849975"/>
            </a:xfrm>
          </p:grpSpPr>
          <p:sp>
            <p:nvSpPr>
              <p:cNvPr id="18" name="Freeform: Shape 11">
                <a:extLst>
                  <a:ext uri="{FF2B5EF4-FFF2-40B4-BE49-F238E27FC236}">
                    <a16:creationId xmlns:a16="http://schemas.microsoft.com/office/drawing/2014/main" id="{E7715ED9-C8CE-4651-82AA-1C4B5F14A03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B911230A-EF3B-4760-9087-E4FBE05BDC5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blipFill>
                <a:blip r:embed="rId2">
                  <a:alphaModFix amt="57000"/>
                </a:blip>
                <a:tile tx="0" ty="0" sx="100000" sy="100000" flip="none" algn="tl"/>
              </a:blip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2" name="Rubrik 1">
            <a:extLst>
              <a:ext uri="{FF2B5EF4-FFF2-40B4-BE49-F238E27FC236}">
                <a16:creationId xmlns:a16="http://schemas.microsoft.com/office/drawing/2014/main" id="{875626A1-ED9F-F041-07DA-12DB11072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120676"/>
            <a:ext cx="7021513" cy="230832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100" dirty="0">
                <a:solidFill>
                  <a:schemeClr val="bg1"/>
                </a:solidFill>
              </a:rPr>
              <a:t>Precision, Recall, F1</a:t>
            </a:r>
            <a:endParaRPr lang="en-US" sz="61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9235293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4A32849-5D1D-DEB6-38CA-6B8160AC48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Precision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49239942-725E-520D-BB2D-E695F2276BB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𝑃𝑟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ⅇ</m:t>
                      </m:r>
                      <m:r>
                        <a:rPr lang="sv-SE" i="1" dirty="0">
                          <a:latin typeface="Cambria Math" panose="02040503050406030204" pitchFamily="18" charset="0"/>
                        </a:rPr>
                        <m:t>𝑐𝑖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sv-SE" i="1" dirty="0">
                          <a:latin typeface="Cambria Math" panose="02040503050406030204" pitchFamily="18" charset="0"/>
                        </a:rPr>
                        <m:t>𝑖𝑜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𝑇𝑃</m:t>
                          </m:r>
                        </m:num>
                        <m:den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𝑇𝑃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𝐹𝑃</m:t>
                          </m:r>
                        </m:den>
                      </m:f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dirty="0" err="1"/>
                  <a:t>Fråga</a:t>
                </a:r>
                <a:r>
                  <a:rPr lang="en-US" dirty="0"/>
                  <a:t>: </a:t>
                </a:r>
                <a:r>
                  <a:rPr lang="en-US" dirty="0" err="1"/>
                  <a:t>Vad</a:t>
                </a:r>
                <a:r>
                  <a:rPr lang="en-US" dirty="0"/>
                  <a:t> </a:t>
                </a:r>
                <a:r>
                  <a:rPr lang="en-US" dirty="0" err="1"/>
                  <a:t>besvarar</a:t>
                </a:r>
                <a:r>
                  <a:rPr lang="en-US" dirty="0"/>
                  <a:t> Precision? </a:t>
                </a:r>
              </a:p>
              <a:p>
                <a:pPr marL="0" indent="0">
                  <a:buNone/>
                </a:pPr>
                <a:r>
                  <a:rPr lang="en-US" dirty="0"/>
                  <a:t>Svar: </a:t>
                </a:r>
                <a:r>
                  <a:rPr lang="en-US" dirty="0" err="1"/>
                  <a:t>Andelen</a:t>
                </a:r>
                <a:r>
                  <a:rPr lang="en-US" dirty="0"/>
                  <a:t> av de </a:t>
                </a:r>
                <a:r>
                  <a:rPr lang="en-US" dirty="0" err="1"/>
                  <a:t>positiva</a:t>
                </a:r>
                <a:br>
                  <a:rPr lang="en-US" dirty="0"/>
                </a:br>
                <a:r>
                  <a:rPr lang="en-US" dirty="0" err="1"/>
                  <a:t>prediktionerna</a:t>
                </a:r>
                <a:r>
                  <a:rPr lang="en-US" dirty="0"/>
                  <a:t> </a:t>
                </a:r>
                <a:r>
                  <a:rPr lang="en-US" dirty="0" err="1"/>
                  <a:t>som</a:t>
                </a:r>
                <a:r>
                  <a:rPr lang="en-US" dirty="0"/>
                  <a:t> </a:t>
                </a:r>
                <a:r>
                  <a:rPr lang="en-US" dirty="0" err="1"/>
                  <a:t>faktiskt</a:t>
                </a:r>
                <a:r>
                  <a:rPr lang="en-US" dirty="0"/>
                  <a:t> </a:t>
                </a:r>
                <a:br>
                  <a:rPr lang="en-US" dirty="0"/>
                </a:br>
                <a:r>
                  <a:rPr lang="en-US" dirty="0" err="1"/>
                  <a:t>är</a:t>
                </a:r>
                <a:r>
                  <a:rPr lang="en-US" dirty="0"/>
                  <a:t> </a:t>
                </a:r>
                <a:r>
                  <a:rPr lang="en-US" dirty="0" err="1"/>
                  <a:t>korrekta</a:t>
                </a:r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49239942-725E-520D-BB2D-E695F2276BB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Content Placeholder 3">
            <a:extLst>
              <a:ext uri="{FF2B5EF4-FFF2-40B4-BE49-F238E27FC236}">
                <a16:creationId xmlns:a16="http://schemas.microsoft.com/office/drawing/2014/main" id="{347EC4E1-2E24-56E0-B7AE-F948EE55AD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6101" y="447999"/>
            <a:ext cx="5935071" cy="3341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02520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4A32849-5D1D-DEB6-38CA-6B8160AC48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/>
              <a:t>Recall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49239942-725E-520D-BB2D-E695F2276BB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sv-SE" b="0" i="1" dirty="0" smtClean="0">
                          <a:latin typeface="Cambria Math" panose="02040503050406030204" pitchFamily="18" charset="0"/>
                        </a:rPr>
                        <m:t>𝑅𝑒𝑐𝑎𝑙𝑙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𝑇𝑃</m:t>
                          </m:r>
                        </m:num>
                        <m:den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𝑇𝑃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𝐹𝑁</m:t>
                          </m:r>
                        </m:den>
                      </m:f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dirty="0" err="1"/>
                  <a:t>Fråga</a:t>
                </a:r>
                <a:r>
                  <a:rPr lang="en-US" dirty="0"/>
                  <a:t>: </a:t>
                </a:r>
                <a:r>
                  <a:rPr lang="en-US" dirty="0" err="1"/>
                  <a:t>Vad</a:t>
                </a:r>
                <a:r>
                  <a:rPr lang="en-US" dirty="0"/>
                  <a:t> </a:t>
                </a:r>
                <a:r>
                  <a:rPr lang="en-US" dirty="0" err="1"/>
                  <a:t>besvarar</a:t>
                </a:r>
                <a:r>
                  <a:rPr lang="en-US" dirty="0"/>
                  <a:t> Recall? </a:t>
                </a:r>
              </a:p>
              <a:p>
                <a:pPr marL="0" indent="0">
                  <a:buNone/>
                </a:pPr>
                <a:r>
                  <a:rPr lang="en-US" dirty="0"/>
                  <a:t>Svar: </a:t>
                </a:r>
                <a:r>
                  <a:rPr lang="en-US" dirty="0" err="1"/>
                  <a:t>Andelen</a:t>
                </a:r>
                <a:r>
                  <a:rPr lang="en-US" dirty="0"/>
                  <a:t> av den </a:t>
                </a:r>
                <a:r>
                  <a:rPr lang="en-US" dirty="0" err="1"/>
                  <a:t>positiva</a:t>
                </a:r>
                <a:br>
                  <a:rPr lang="en-US" dirty="0"/>
                </a:br>
                <a:r>
                  <a:rPr lang="en-US" dirty="0" err="1"/>
                  <a:t>klassen</a:t>
                </a:r>
                <a:r>
                  <a:rPr lang="en-US" dirty="0"/>
                  <a:t> </a:t>
                </a:r>
                <a:r>
                  <a:rPr lang="en-US" dirty="0" err="1"/>
                  <a:t>som</a:t>
                </a:r>
                <a:r>
                  <a:rPr lang="en-US" dirty="0"/>
                  <a:t> vi </a:t>
                </a:r>
                <a:r>
                  <a:rPr lang="en-US" dirty="0" err="1"/>
                  <a:t>predikterar</a:t>
                </a:r>
                <a:r>
                  <a:rPr lang="en-US" dirty="0"/>
                  <a:t> </a:t>
                </a:r>
                <a:br>
                  <a:rPr lang="en-US" dirty="0"/>
                </a:br>
                <a:r>
                  <a:rPr lang="en-US" dirty="0" err="1"/>
                  <a:t>korrekt</a:t>
                </a:r>
                <a:r>
                  <a:rPr lang="en-US" dirty="0"/>
                  <a:t>. </a:t>
                </a: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49239942-725E-520D-BB2D-E695F2276BB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Content Placeholder 3">
            <a:extLst>
              <a:ext uri="{FF2B5EF4-FFF2-40B4-BE49-F238E27FC236}">
                <a16:creationId xmlns:a16="http://schemas.microsoft.com/office/drawing/2014/main" id="{347EC4E1-2E24-56E0-B7AE-F948EE55AD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6101" y="447999"/>
            <a:ext cx="5935071" cy="3341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49069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9DC08-A872-49A0-8B4A-9BD76FBD2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Precision / </a:t>
            </a:r>
            <a:r>
              <a:rPr lang="sv-SE" dirty="0" err="1"/>
              <a:t>Recall</a:t>
            </a:r>
            <a:r>
              <a:rPr lang="sv-SE" dirty="0"/>
              <a:t> </a:t>
            </a:r>
            <a:r>
              <a:rPr lang="sv-SE" dirty="0" err="1"/>
              <a:t>Trade</a:t>
            </a:r>
            <a:r>
              <a:rPr lang="sv-SE" dirty="0"/>
              <a:t>-off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0F6C99-F1C6-C242-3B69-183BF2B939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v-SE" dirty="0"/>
              <a:t>Högre precision ger lägre </a:t>
            </a:r>
            <a:r>
              <a:rPr lang="sv-SE" dirty="0" err="1"/>
              <a:t>recall</a:t>
            </a:r>
            <a:r>
              <a:rPr lang="sv-SE" dirty="0"/>
              <a:t> och vice versa. Finns litet undantag (se längst upp till vänster, inget vi bryr oss om). </a:t>
            </a:r>
          </a:p>
          <a:p>
            <a:endParaRPr lang="sv-SE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F3E71D-0169-0A42-AC42-16281EC636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0447" y="2877619"/>
            <a:ext cx="6607715" cy="3615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36586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2E5394B-E428-8245-E666-D37048B6B669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sv-SE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𝑆𝑐𝑜𝑟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ⅇ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2E5394B-E428-8245-E666-D37048B6B66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C52924D-C806-E809-4698-91864239F95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sv-SE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𝑆𝑐𝑜𝑟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ⅇ=</m:t>
                      </m:r>
                      <m:f>
                        <m:fPr>
                          <m:ctrlPr>
                            <a:rPr lang="en-US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f>
                            <m:f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r>
                                <a:rPr lang="sv-SE" b="0" i="1" smtClean="0">
                                  <a:latin typeface="Cambria Math" panose="02040503050406030204" pitchFamily="18" charset="0"/>
                                </a:rPr>
                                <m:t>𝑟𝑒𝑐𝑖𝑠𝑖𝑜𝑛</m:t>
                              </m:r>
                            </m:den>
                          </m:f>
                          <m:r>
                            <a:rPr lang="sv-SE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sv-SE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f>
                            <m:f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sv-SE" b="0" i="1" smtClean="0">
                                  <a:latin typeface="Cambria Math" panose="02040503050406030204" pitchFamily="18" charset="0"/>
                                </a:rPr>
                                <m:t>𝑅𝑒𝑐𝑎𝑙𝑙</m:t>
                              </m:r>
                            </m:den>
                          </m:f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Finns </a:t>
                </a:r>
                <a:r>
                  <a:rPr lang="en-US" dirty="0" err="1"/>
                  <a:t>ingen</a:t>
                </a:r>
                <a:r>
                  <a:rPr lang="en-US" dirty="0"/>
                  <a:t> </a:t>
                </a:r>
                <a:r>
                  <a:rPr lang="en-US" dirty="0" err="1"/>
                  <a:t>direkt</a:t>
                </a:r>
                <a:r>
                  <a:rPr lang="en-US" dirty="0"/>
                  <a:t> </a:t>
                </a:r>
                <a:r>
                  <a:rPr lang="en-US" dirty="0" err="1"/>
                  <a:t>tolkning</a:t>
                </a:r>
                <a:r>
                  <a:rPr lang="en-US" dirty="0"/>
                  <a:t> av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i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score.  </a:t>
                </a:r>
              </a:p>
              <a:p>
                <a:r>
                  <a:rPr lang="en-US" dirty="0"/>
                  <a:t>För </a:t>
                </a:r>
                <a:r>
                  <a:rPr lang="en-US" dirty="0" err="1"/>
                  <a:t>att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i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sv-SE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𝑆𝑐𝑜𝑟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ⅇ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skall</a:t>
                </a:r>
                <a:r>
                  <a:rPr lang="en-US" dirty="0"/>
                  <a:t> </a:t>
                </a:r>
                <a:r>
                  <a:rPr lang="en-US" dirty="0" err="1"/>
                  <a:t>bli</a:t>
                </a:r>
                <a:r>
                  <a:rPr lang="en-US" dirty="0"/>
                  <a:t> </a:t>
                </a:r>
                <a:r>
                  <a:rPr lang="en-US" dirty="0" err="1"/>
                  <a:t>högt</a:t>
                </a:r>
                <a:r>
                  <a:rPr lang="en-US" dirty="0"/>
                  <a:t> </a:t>
                </a:r>
                <a:r>
                  <a:rPr lang="en-US" dirty="0" err="1"/>
                  <a:t>krävs</a:t>
                </a:r>
                <a:br>
                  <a:rPr lang="en-US" dirty="0"/>
                </a:br>
                <a:r>
                  <a:rPr lang="en-US" dirty="0" err="1"/>
                  <a:t>både</a:t>
                </a:r>
                <a:r>
                  <a:rPr lang="en-US" dirty="0"/>
                  <a:t> </a:t>
                </a:r>
                <a:r>
                  <a:rPr lang="en-US" dirty="0" err="1"/>
                  <a:t>en</a:t>
                </a:r>
                <a:r>
                  <a:rPr lang="en-US" dirty="0"/>
                  <a:t> </a:t>
                </a:r>
                <a:r>
                  <a:rPr lang="en-US" dirty="0" err="1"/>
                  <a:t>hög</a:t>
                </a:r>
                <a:r>
                  <a:rPr lang="en-US" dirty="0"/>
                  <a:t> Precision </a:t>
                </a:r>
                <a:r>
                  <a:rPr lang="en-US" dirty="0" err="1"/>
                  <a:t>och</a:t>
                </a:r>
                <a:r>
                  <a:rPr lang="en-US" dirty="0"/>
                  <a:t> </a:t>
                </a:r>
                <a:r>
                  <a:rPr lang="en-US" dirty="0" err="1"/>
                  <a:t>en</a:t>
                </a:r>
                <a:r>
                  <a:rPr lang="en-US" dirty="0"/>
                  <a:t> </a:t>
                </a:r>
                <a:r>
                  <a:rPr lang="en-US" dirty="0" err="1"/>
                  <a:t>hög</a:t>
                </a:r>
                <a:r>
                  <a:rPr lang="en-US" dirty="0"/>
                  <a:t> Recall. 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C52924D-C806-E809-4698-91864239F95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D48E15C9-6836-DFD6-7AE7-87995A6BB8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7683" y="1200607"/>
            <a:ext cx="4550374" cy="3986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56226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87F4F1C-8D3D-4EC1-B72D-A0470A5A0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1E3DD61-64DB-46AD-B249-E273CD86B0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296011"/>
            <a:ext cx="12192000" cy="3561989"/>
            <a:chOff x="0" y="3296011"/>
            <a:chExt cx="12192000" cy="3561989"/>
          </a:xfrm>
          <a:effectLst>
            <a:outerShdw blurRad="254000" dist="152400" dir="16200000" rotWithShape="0">
              <a:prstClr val="black">
                <a:alpha val="10000"/>
              </a:prstClr>
            </a:outerShdw>
          </a:effectLst>
        </p:grpSpPr>
        <p:grpSp>
          <p:nvGrpSpPr>
            <p:cNvPr id="16" name="Group 9">
              <a:extLst>
                <a:ext uri="{FF2B5EF4-FFF2-40B4-BE49-F238E27FC236}">
                  <a16:creationId xmlns:a16="http://schemas.microsoft.com/office/drawing/2014/main" id="{0D7053D3-590A-4E94-B092-C96EAF744C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0" y="3681702"/>
              <a:ext cx="12192000" cy="3176298"/>
              <a:chOff x="0" y="3681702"/>
              <a:chExt cx="12192000" cy="3176298"/>
            </a:xfrm>
          </p:grpSpPr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2EB67199-6FF0-4DED-89D1-BAEA95F9F59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D1A0BEEB-C008-4150-A935-C6AAF537DA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bg1">
                  <a:alpha val="14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7" name="Group 10">
              <a:extLst>
                <a:ext uri="{FF2B5EF4-FFF2-40B4-BE49-F238E27FC236}">
                  <a16:creationId xmlns:a16="http://schemas.microsoft.com/office/drawing/2014/main" id="{05148B0F-801C-45A1-80C1-EEC25A22A7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44" y="3296011"/>
              <a:ext cx="12191456" cy="2849975"/>
              <a:chOff x="544" y="3296011"/>
              <a:chExt cx="12191456" cy="2849975"/>
            </a:xfrm>
          </p:grpSpPr>
          <p:sp>
            <p:nvSpPr>
              <p:cNvPr id="18" name="Freeform: Shape 11">
                <a:extLst>
                  <a:ext uri="{FF2B5EF4-FFF2-40B4-BE49-F238E27FC236}">
                    <a16:creationId xmlns:a16="http://schemas.microsoft.com/office/drawing/2014/main" id="{E7715ED9-C8CE-4651-82AA-1C4B5F14A03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B911230A-EF3B-4760-9087-E4FBE05BDC5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blipFill>
                <a:blip r:embed="rId2">
                  <a:alphaModFix amt="57000"/>
                </a:blip>
                <a:tile tx="0" ty="0" sx="100000" sy="100000" flip="none" algn="tl"/>
              </a:blip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2" name="Rubrik 1">
            <a:extLst>
              <a:ext uri="{FF2B5EF4-FFF2-40B4-BE49-F238E27FC236}">
                <a16:creationId xmlns:a16="http://schemas.microsoft.com/office/drawing/2014/main" id="{875626A1-ED9F-F041-07DA-12DB11072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120676"/>
            <a:ext cx="7021513" cy="230832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1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OvO</a:t>
            </a:r>
            <a:r>
              <a:rPr lang="en-US" sz="61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&amp; </a:t>
            </a:r>
            <a:r>
              <a:rPr lang="en-US" sz="61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OvR</a:t>
            </a:r>
            <a:endParaRPr lang="en-US" sz="61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5116687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ubrik 4">
            <a:extLst>
              <a:ext uri="{FF2B5EF4-FFF2-40B4-BE49-F238E27FC236}">
                <a16:creationId xmlns:a16="http://schemas.microsoft.com/office/drawing/2014/main" id="{2A7CF3F8-2FF5-970D-0D7A-2B2601CF98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/>
              <a:t>OvO</a:t>
            </a:r>
            <a:r>
              <a:rPr lang="sv-SE" dirty="0"/>
              <a:t> &amp; </a:t>
            </a:r>
            <a:r>
              <a:rPr lang="sv-SE" dirty="0" err="1"/>
              <a:t>OvR</a:t>
            </a:r>
            <a:r>
              <a:rPr lang="sv-SE" dirty="0"/>
              <a:t> – Bakgrund</a:t>
            </a:r>
          </a:p>
        </p:txBody>
      </p:sp>
      <p:sp>
        <p:nvSpPr>
          <p:cNvPr id="6" name="Platshållare för innehåll 5">
            <a:extLst>
              <a:ext uri="{FF2B5EF4-FFF2-40B4-BE49-F238E27FC236}">
                <a16:creationId xmlns:a16="http://schemas.microsoft.com/office/drawing/2014/main" id="{F78DEA91-B2AD-1C27-39A9-7622F492B4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v-SE" dirty="0"/>
              <a:t>Binära klassificerare kan särskilja två klasser, t.ex. kommer kunden </a:t>
            </a:r>
            <a:r>
              <a:rPr lang="sv-SE" dirty="0" err="1"/>
              <a:t>churna</a:t>
            </a:r>
            <a:r>
              <a:rPr lang="sv-SE" dirty="0"/>
              <a:t> / lämna företaget (JA / NEJ)? </a:t>
            </a:r>
          </a:p>
          <a:p>
            <a:r>
              <a:rPr lang="sv-SE" dirty="0"/>
              <a:t>Binära klassificerare enkelt användas för multiklass </a:t>
            </a:r>
            <a:r>
              <a:rPr lang="sv-SE" dirty="0" err="1"/>
              <a:t>klassificieringsproblem</a:t>
            </a:r>
            <a:r>
              <a:rPr lang="sv-SE" dirty="0"/>
              <a:t> också genom att använda </a:t>
            </a:r>
            <a:r>
              <a:rPr lang="sv-SE" b="1" dirty="0" err="1"/>
              <a:t>One-versues-One</a:t>
            </a:r>
            <a:r>
              <a:rPr lang="sv-SE" b="1" dirty="0"/>
              <a:t> (</a:t>
            </a:r>
            <a:r>
              <a:rPr lang="sv-SE" b="1" dirty="0" err="1"/>
              <a:t>OvO</a:t>
            </a:r>
            <a:r>
              <a:rPr lang="sv-SE" b="1" dirty="0"/>
              <a:t>) </a:t>
            </a:r>
            <a:r>
              <a:rPr lang="sv-SE" dirty="0"/>
              <a:t>eller </a:t>
            </a:r>
            <a:r>
              <a:rPr lang="sv-SE" b="1" dirty="0" err="1"/>
              <a:t>One</a:t>
            </a:r>
            <a:r>
              <a:rPr lang="sv-SE" b="1" dirty="0"/>
              <a:t>-</a:t>
            </a:r>
            <a:r>
              <a:rPr lang="sv-SE" b="1" dirty="0" err="1"/>
              <a:t>versus</a:t>
            </a:r>
            <a:r>
              <a:rPr lang="sv-SE" b="1" dirty="0"/>
              <a:t>-Rest (</a:t>
            </a:r>
            <a:r>
              <a:rPr lang="sv-SE" b="1" dirty="0" err="1"/>
              <a:t>OvR</a:t>
            </a:r>
            <a:r>
              <a:rPr lang="sv-SE" b="1" dirty="0"/>
              <a:t>) </a:t>
            </a:r>
            <a:r>
              <a:rPr lang="sv-SE" dirty="0"/>
              <a:t>algoritmerna.</a:t>
            </a:r>
          </a:p>
          <a:p>
            <a:endParaRPr lang="sv-SE" dirty="0"/>
          </a:p>
          <a:p>
            <a:r>
              <a:rPr lang="sv-SE" dirty="0"/>
              <a:t>Använder du en binär klassificeringsmodell för multiklass data så kommer Scikit-</a:t>
            </a:r>
            <a:r>
              <a:rPr lang="sv-SE" dirty="0" err="1"/>
              <a:t>learn</a:t>
            </a:r>
            <a:r>
              <a:rPr lang="sv-SE" dirty="0"/>
              <a:t> automatiskt köra </a:t>
            </a:r>
            <a:r>
              <a:rPr lang="sv-SE" dirty="0" err="1"/>
              <a:t>OvO</a:t>
            </a:r>
            <a:r>
              <a:rPr lang="sv-SE" dirty="0"/>
              <a:t> eller </a:t>
            </a:r>
            <a:r>
              <a:rPr lang="sv-SE" dirty="0" err="1"/>
              <a:t>OvR</a:t>
            </a:r>
            <a:r>
              <a:rPr lang="sv-SE" dirty="0"/>
              <a:t> algoritmerna åt oss. </a:t>
            </a:r>
          </a:p>
        </p:txBody>
      </p:sp>
    </p:spTree>
    <p:extLst>
      <p:ext uri="{BB962C8B-B14F-4D97-AF65-F5344CB8AC3E}">
        <p14:creationId xmlns:p14="http://schemas.microsoft.com/office/powerpoint/2010/main" val="5480529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63DBC986-54E3-8C03-F0AF-CC3EED69EE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/>
              <a:t>One-versues-One</a:t>
            </a:r>
            <a:r>
              <a:rPr lang="sv-SE" dirty="0"/>
              <a:t> (</a:t>
            </a:r>
            <a:r>
              <a:rPr lang="sv-SE" dirty="0" err="1"/>
              <a:t>OvO</a:t>
            </a:r>
            <a:r>
              <a:rPr lang="sv-SE" dirty="0"/>
              <a:t>)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60E98C32-8982-2E71-F6A8-5B8B18B2A1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sv-SE" dirty="0"/>
              <a:t>Exempel, vi vill kunna klassificera siffrorna: {0, 1, 2, …, 9}. </a:t>
            </a:r>
          </a:p>
          <a:p>
            <a:endParaRPr lang="sv-SE" dirty="0"/>
          </a:p>
          <a:p>
            <a:r>
              <a:rPr lang="sv-SE" dirty="0" err="1"/>
              <a:t>OvO</a:t>
            </a:r>
            <a:r>
              <a:rPr lang="sv-SE" dirty="0"/>
              <a:t> tränar en binär klassificerare för varje par av siffror: </a:t>
            </a:r>
            <a:br>
              <a:rPr lang="sv-SE" dirty="0"/>
            </a:br>
            <a:r>
              <a:rPr lang="sv-SE" dirty="0"/>
              <a:t>{0, 1}, {0, 2}, {0, 3}, … {0, 9}, {1, 2}, {1, 3}, … , {1, 9}, … {8, 9} .</a:t>
            </a:r>
          </a:p>
          <a:p>
            <a:r>
              <a:rPr lang="sv-SE" dirty="0"/>
              <a:t>Generellt, om det finns N klasser så kommer </a:t>
            </a:r>
            <a:br>
              <a:rPr lang="sv-SE" dirty="0"/>
            </a:br>
            <a:r>
              <a:rPr lang="sv-SE" dirty="0"/>
              <a:t>det behövas tränas                               stycken</a:t>
            </a:r>
            <a:br>
              <a:rPr lang="sv-SE" dirty="0"/>
            </a:br>
            <a:br>
              <a:rPr lang="sv-SE" dirty="0"/>
            </a:br>
            <a:r>
              <a:rPr lang="sv-SE" dirty="0"/>
              <a:t>klassificerare.   </a:t>
            </a:r>
          </a:p>
          <a:p>
            <a:r>
              <a:rPr lang="sv-SE" dirty="0"/>
              <a:t>För att prediktera en ny observation, kör alla </a:t>
            </a:r>
            <a:br>
              <a:rPr lang="sv-SE" dirty="0"/>
            </a:br>
            <a:r>
              <a:rPr lang="sv-SE" dirty="0"/>
              <a:t>modeller och se vilken som vinner flest dueller. </a:t>
            </a:r>
            <a:br>
              <a:rPr lang="sv-SE" dirty="0"/>
            </a:br>
            <a:r>
              <a:rPr lang="sv-SE" dirty="0"/>
              <a:t>                              </a:t>
            </a:r>
          </a:p>
          <a:p>
            <a:endParaRPr lang="sv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ruta 4">
                <a:extLst>
                  <a:ext uri="{FF2B5EF4-FFF2-40B4-BE49-F238E27FC236}">
                    <a16:creationId xmlns:a16="http://schemas.microsoft.com/office/drawing/2014/main" id="{47E0A60B-63B7-4102-32D6-891FF0B0552A}"/>
                  </a:ext>
                </a:extLst>
              </p:cNvPr>
              <p:cNvSpPr txBox="1"/>
              <p:nvPr/>
            </p:nvSpPr>
            <p:spPr>
              <a:xfrm>
                <a:off x="3882762" y="3814863"/>
                <a:ext cx="2035685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sv-SE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sv-SE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sv-SE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p>
                              <m:r>
                                <a:rPr lang="sv-SE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sv-SE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sv-SE" i="1">
                              <a:latin typeface="Cambria Math" panose="02040503050406030204" pitchFamily="18" charset="0"/>
                            </a:rPr>
                            <m:t>𝑁</m:t>
                          </m:r>
                        </m:num>
                        <m:den>
                          <m:r>
                            <a:rPr lang="sv-SE" i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sv-SE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sv-SE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sv-SE" i="1">
                              <a:latin typeface="Cambria Math" panose="02040503050406030204" pitchFamily="18" charset="0"/>
                            </a:rPr>
                            <m:t>𝑁</m:t>
                          </m:r>
                          <m:d>
                            <m:dPr>
                              <m:ctrlPr>
                                <a:rPr lang="sv-SE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sv-SE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sv-SE" i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num>
                        <m:den>
                          <m:r>
                            <a:rPr lang="sv-SE" i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sv-SE" dirty="0"/>
              </a:p>
            </p:txBody>
          </p:sp>
        </mc:Choice>
        <mc:Fallback xmlns="">
          <p:sp>
            <p:nvSpPr>
              <p:cNvPr id="5" name="textruta 4">
                <a:extLst>
                  <a:ext uri="{FF2B5EF4-FFF2-40B4-BE49-F238E27FC236}">
                    <a16:creationId xmlns:a16="http://schemas.microsoft.com/office/drawing/2014/main" id="{47E0A60B-63B7-4102-32D6-891FF0B055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2762" y="3814863"/>
                <a:ext cx="2035685" cy="55399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Bildobjekt 8">
            <a:extLst>
              <a:ext uri="{FF2B5EF4-FFF2-40B4-BE49-F238E27FC236}">
                <a16:creationId xmlns:a16="http://schemas.microsoft.com/office/drawing/2014/main" id="{5C126F66-13A4-F314-1CF3-33D838E25A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2400" y="3715450"/>
            <a:ext cx="3558986" cy="3077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74504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ubrik 4">
            <a:extLst>
              <a:ext uri="{FF2B5EF4-FFF2-40B4-BE49-F238E27FC236}">
                <a16:creationId xmlns:a16="http://schemas.microsoft.com/office/drawing/2014/main" id="{F5597D19-B000-B3AC-2EDF-480798BA9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/>
              <a:t>One</a:t>
            </a:r>
            <a:r>
              <a:rPr lang="sv-SE" dirty="0"/>
              <a:t>-</a:t>
            </a:r>
            <a:r>
              <a:rPr lang="sv-SE" dirty="0" err="1"/>
              <a:t>versus</a:t>
            </a:r>
            <a:r>
              <a:rPr lang="sv-SE" dirty="0"/>
              <a:t>-Rest (</a:t>
            </a:r>
            <a:r>
              <a:rPr lang="sv-SE" dirty="0" err="1"/>
              <a:t>OvR</a:t>
            </a:r>
            <a:r>
              <a:rPr lang="sv-SE" dirty="0"/>
              <a:t>)</a:t>
            </a:r>
          </a:p>
        </p:txBody>
      </p:sp>
      <p:sp>
        <p:nvSpPr>
          <p:cNvPr id="6" name="Platshållare för innehåll 5">
            <a:extLst>
              <a:ext uri="{FF2B5EF4-FFF2-40B4-BE49-F238E27FC236}">
                <a16:creationId xmlns:a16="http://schemas.microsoft.com/office/drawing/2014/main" id="{83E2F05F-2734-3D20-0788-8AEAF47F25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sv-SE" dirty="0"/>
              <a:t>Exempel, vi vill kunna klassificera siffrorna: {0, 1, 2, …, 9}. </a:t>
            </a:r>
          </a:p>
          <a:p>
            <a:endParaRPr lang="sv-SE" dirty="0"/>
          </a:p>
          <a:p>
            <a:r>
              <a:rPr lang="sv-SE" dirty="0" err="1"/>
              <a:t>OvR</a:t>
            </a:r>
            <a:r>
              <a:rPr lang="sv-SE" dirty="0"/>
              <a:t>: Skapa en klassificerare för varje siffra. D.v.s. </a:t>
            </a:r>
            <a:br>
              <a:rPr lang="sv-SE" dirty="0"/>
            </a:br>
            <a:r>
              <a:rPr lang="sv-SE" dirty="0"/>
              <a:t> - En klassificerare predikterar om en siffra är en 0:a eller inte. </a:t>
            </a:r>
            <a:br>
              <a:rPr lang="sv-SE" dirty="0"/>
            </a:br>
            <a:r>
              <a:rPr lang="sv-SE" dirty="0"/>
              <a:t> - En klassificerare predikterar om en siffra är en 1:a eller inte. </a:t>
            </a:r>
            <a:br>
              <a:rPr lang="sv-SE" dirty="0"/>
            </a:br>
            <a:r>
              <a:rPr lang="sv-SE" dirty="0"/>
              <a:t>    …</a:t>
            </a:r>
            <a:br>
              <a:rPr lang="sv-SE" dirty="0"/>
            </a:br>
            <a:r>
              <a:rPr lang="sv-SE" dirty="0"/>
              <a:t> - En klassificerare predikterar om en siffra är en 9:a eller inte. </a:t>
            </a:r>
          </a:p>
          <a:p>
            <a:r>
              <a:rPr lang="sv-SE" dirty="0"/>
              <a:t>När vi sen skall klassificera en siffra, kör alla modeller där din prediktion blir den siffra som fått högst score. </a:t>
            </a:r>
            <a:br>
              <a:rPr lang="sv-SE" dirty="0"/>
            </a:br>
            <a:br>
              <a:rPr lang="sv-SE" dirty="0"/>
            </a:b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9292777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C376AD63-987F-EC94-F552-DC9E48D78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/>
              <a:t>Confusion</a:t>
            </a:r>
            <a:r>
              <a:rPr lang="sv-SE" dirty="0"/>
              <a:t> Matrix</a:t>
            </a:r>
          </a:p>
        </p:txBody>
      </p:sp>
      <p:pic>
        <p:nvPicPr>
          <p:cNvPr id="5" name="Platshållare för innehåll 4">
            <a:extLst>
              <a:ext uri="{FF2B5EF4-FFF2-40B4-BE49-F238E27FC236}">
                <a16:creationId xmlns:a16="http://schemas.microsoft.com/office/drawing/2014/main" id="{09BD8516-8458-BE13-8114-2831674AB5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60422" y="1546165"/>
            <a:ext cx="7071155" cy="5240593"/>
          </a:xfrm>
        </p:spPr>
      </p:pic>
    </p:spTree>
    <p:extLst>
      <p:ext uri="{BB962C8B-B14F-4D97-AF65-F5344CB8AC3E}">
        <p14:creationId xmlns:p14="http://schemas.microsoft.com/office/powerpoint/2010/main" val="32122734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F219E5-5D48-7829-6E6C-96B849D0F7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CA2C4A8-57D9-9991-6580-FC838C8644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43BFCFD-3583-2B4B-8EF8-EEAB2422A4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296011"/>
            <a:ext cx="12192000" cy="3561989"/>
            <a:chOff x="0" y="3296011"/>
            <a:chExt cx="12192000" cy="3561989"/>
          </a:xfrm>
          <a:effectLst>
            <a:outerShdw blurRad="254000" dist="152400" dir="16200000" rotWithShape="0">
              <a:prstClr val="black">
                <a:alpha val="10000"/>
              </a:prstClr>
            </a:outerShdw>
          </a:effectLst>
        </p:grpSpPr>
        <p:grpSp>
          <p:nvGrpSpPr>
            <p:cNvPr id="16" name="Group 9">
              <a:extLst>
                <a:ext uri="{FF2B5EF4-FFF2-40B4-BE49-F238E27FC236}">
                  <a16:creationId xmlns:a16="http://schemas.microsoft.com/office/drawing/2014/main" id="{7BFCB676-2123-5AAF-1EE8-704A2675AA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0" y="3681702"/>
              <a:ext cx="12192000" cy="3176298"/>
              <a:chOff x="0" y="3681702"/>
              <a:chExt cx="12192000" cy="3176298"/>
            </a:xfrm>
          </p:grpSpPr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AD524891-519B-2E90-C5BA-1971F5229DC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7CCCA09E-BCB2-5EB2-EDC0-E7C28201C2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bg1">
                  <a:alpha val="14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7" name="Group 10">
              <a:extLst>
                <a:ext uri="{FF2B5EF4-FFF2-40B4-BE49-F238E27FC236}">
                  <a16:creationId xmlns:a16="http://schemas.microsoft.com/office/drawing/2014/main" id="{20C9E85F-B69C-FF96-23DF-A688152296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44" y="3296011"/>
              <a:ext cx="12191456" cy="2849975"/>
              <a:chOff x="544" y="3296011"/>
              <a:chExt cx="12191456" cy="2849975"/>
            </a:xfrm>
          </p:grpSpPr>
          <p:sp>
            <p:nvSpPr>
              <p:cNvPr id="18" name="Freeform: Shape 11">
                <a:extLst>
                  <a:ext uri="{FF2B5EF4-FFF2-40B4-BE49-F238E27FC236}">
                    <a16:creationId xmlns:a16="http://schemas.microsoft.com/office/drawing/2014/main" id="{6C617C0E-76BC-F804-A3CE-7629AC170EB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22A8F2F6-E871-C286-B804-D1CE5E7781E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blipFill>
                <a:blip r:embed="rId2">
                  <a:alphaModFix amt="57000"/>
                </a:blip>
                <a:tile tx="0" ty="0" sx="100000" sy="100000" flip="none" algn="tl"/>
              </a:blip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2" name="Rubrik 1">
            <a:extLst>
              <a:ext uri="{FF2B5EF4-FFF2-40B4-BE49-F238E27FC236}">
                <a16:creationId xmlns:a16="http://schemas.microsoft.com/office/drawing/2014/main" id="{785CC607-C3A5-19A4-421C-CFE8216675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120676"/>
            <a:ext cx="7021513" cy="230832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1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Beslutsträd</a:t>
            </a:r>
            <a:endParaRPr lang="en-US" sz="61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674951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ubrik 5">
            <a:extLst>
              <a:ext uri="{FF2B5EF4-FFF2-40B4-BE49-F238E27FC236}">
                <a16:creationId xmlns:a16="http://schemas.microsoft.com/office/drawing/2014/main" id="{E88A5210-35B2-35A9-DE0C-735D6C1867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0"/>
            <a:ext cx="3932237" cy="1600200"/>
          </a:xfrm>
        </p:spPr>
        <p:txBody>
          <a:bodyPr/>
          <a:lstStyle/>
          <a:p>
            <a:r>
              <a:rPr lang="sv-SE" dirty="0"/>
              <a:t>Tolkning</a:t>
            </a:r>
          </a:p>
        </p:txBody>
      </p:sp>
      <p:sp>
        <p:nvSpPr>
          <p:cNvPr id="8" name="Platshållare för text 7">
            <a:extLst>
              <a:ext uri="{FF2B5EF4-FFF2-40B4-BE49-F238E27FC236}">
                <a16:creationId xmlns:a16="http://schemas.microsoft.com/office/drawing/2014/main" id="{5A82EBE8-E722-8144-C62A-AA5B32FF58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765569"/>
            <a:ext cx="5094084" cy="4713051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sv-SE" sz="1800" dirty="0"/>
              <a:t>Antag att en blomma har: </a:t>
            </a:r>
            <a:br>
              <a:rPr lang="sv-SE" sz="1800" dirty="0"/>
            </a:br>
            <a:r>
              <a:rPr lang="sv-SE" sz="1800" dirty="0" err="1"/>
              <a:t>petal_length</a:t>
            </a:r>
            <a:r>
              <a:rPr lang="sv-SE" sz="1800" dirty="0"/>
              <a:t> = 2.6cm, </a:t>
            </a:r>
            <a:r>
              <a:rPr lang="sv-SE" sz="1800" dirty="0" err="1"/>
              <a:t>petal_width</a:t>
            </a:r>
            <a:r>
              <a:rPr lang="sv-SE" sz="1800" dirty="0"/>
              <a:t> = 1.6 cm.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v-SE" sz="1800" dirty="0"/>
              <a:t>Då går vi höger, vänster.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sv-SE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v-SE" sz="1800" dirty="0"/>
              <a:t>Vår predikterade klass blir </a:t>
            </a:r>
            <a:r>
              <a:rPr lang="sv-SE" sz="1800" dirty="0" err="1"/>
              <a:t>versicolor</a:t>
            </a:r>
            <a:r>
              <a:rPr lang="sv-SE" sz="1800" dirty="0"/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v-SE" sz="1800" dirty="0"/>
              <a:t>I den löv-noden så finns det 0 iris </a:t>
            </a:r>
            <a:r>
              <a:rPr lang="sv-SE" sz="1800" dirty="0" err="1"/>
              <a:t>setosa</a:t>
            </a:r>
            <a:r>
              <a:rPr lang="sv-SE" sz="1800" dirty="0"/>
              <a:t>, 49 iris </a:t>
            </a:r>
            <a:r>
              <a:rPr lang="sv-SE" sz="1800" dirty="0" err="1"/>
              <a:t>versicolor</a:t>
            </a:r>
            <a:r>
              <a:rPr lang="sv-SE" sz="1800" dirty="0"/>
              <a:t> och 5 iris </a:t>
            </a:r>
            <a:r>
              <a:rPr lang="sv-SE" sz="1800" dirty="0" err="1"/>
              <a:t>virginica</a:t>
            </a:r>
            <a:r>
              <a:rPr lang="sv-SE" sz="1800" dirty="0"/>
              <a:t> [0, 49, 5].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v-SE" sz="1800" dirty="0" err="1"/>
              <a:t>Samples</a:t>
            </a:r>
            <a:r>
              <a:rPr lang="sv-SE" sz="1800" dirty="0"/>
              <a:t>: 54 observationer är i denna löv-noden.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v-SE" sz="1800" dirty="0" err="1"/>
              <a:t>Gini</a:t>
            </a:r>
            <a:r>
              <a:rPr lang="sv-SE" sz="1800" dirty="0"/>
              <a:t> koefficienten mäter ”</a:t>
            </a:r>
            <a:r>
              <a:rPr lang="sv-SE" sz="1800" dirty="0" err="1"/>
              <a:t>impurity</a:t>
            </a:r>
            <a:r>
              <a:rPr lang="sv-SE" sz="1800" dirty="0"/>
              <a:t>” (orenhet). En nod är ”pure” (ren) om </a:t>
            </a:r>
            <a:r>
              <a:rPr lang="sv-SE" sz="1800" dirty="0" err="1"/>
              <a:t>gini</a:t>
            </a:r>
            <a:r>
              <a:rPr lang="sv-SE" sz="1800" dirty="0"/>
              <a:t> = 0,   d.v.s. alla observationer i noden tillhör samma klass (se t.ex. den orange noden). </a:t>
            </a:r>
          </a:p>
        </p:txBody>
      </p:sp>
      <p:pic>
        <p:nvPicPr>
          <p:cNvPr id="10" name="Bildobjekt 9">
            <a:extLst>
              <a:ext uri="{FF2B5EF4-FFF2-40B4-BE49-F238E27FC236}">
                <a16:creationId xmlns:a16="http://schemas.microsoft.com/office/drawing/2014/main" id="{7EEA5B13-0296-84C8-2FA4-4CF385976A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6215" y="1065178"/>
            <a:ext cx="5533473" cy="4837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42099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5A3A3306-BE1F-E6AD-15A6-63E4D4131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Tolkning</a:t>
            </a:r>
          </a:p>
        </p:txBody>
      </p:sp>
      <p:pic>
        <p:nvPicPr>
          <p:cNvPr id="7" name="Platshållare för innehåll 6">
            <a:extLst>
              <a:ext uri="{FF2B5EF4-FFF2-40B4-BE49-F238E27FC236}">
                <a16:creationId xmlns:a16="http://schemas.microsoft.com/office/drawing/2014/main" id="{DCAE3972-64C5-77B1-797A-DC1A4658F3B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682921" y="2074017"/>
            <a:ext cx="6353634" cy="3003821"/>
          </a:xfrm>
        </p:spPr>
      </p:pic>
      <p:pic>
        <p:nvPicPr>
          <p:cNvPr id="9" name="Bildobjekt 8">
            <a:extLst>
              <a:ext uri="{FF2B5EF4-FFF2-40B4-BE49-F238E27FC236}">
                <a16:creationId xmlns:a16="http://schemas.microsoft.com/office/drawing/2014/main" id="{CE026313-9E01-6037-1CEA-0E4CD734B9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215" y="1690688"/>
            <a:ext cx="4854699" cy="4243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47849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CF464B50-B5E4-82C6-16D5-AB7CC1F91E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/>
              <a:t>Gini</a:t>
            </a:r>
            <a:r>
              <a:rPr lang="sv-SE" dirty="0"/>
              <a:t> Koefficienten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tshållare för innehåll 2">
                <a:extLst>
                  <a:ext uri="{FF2B5EF4-FFF2-40B4-BE49-F238E27FC236}">
                    <a16:creationId xmlns:a16="http://schemas.microsoft.com/office/drawing/2014/main" id="{19980891-6C55-6A67-D313-A7DDCE90123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sv-SE" dirty="0">
                    <a:latin typeface="Cambria Math" panose="02040503050406030204" pitchFamily="18" charset="0"/>
                  </a:rPr>
                  <a:t>Gini koefficienten för nod i,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sv-SE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sv-SE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sv-SE" b="0" i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sv-SE" dirty="0">
                    <a:latin typeface="Cambria Math" panose="02040503050406030204" pitchFamily="18" charset="0"/>
                  </a:rPr>
                  <a:t> beräknas genom formeln: </a:t>
                </a:r>
                <a:br>
                  <a:rPr lang="sv-SE" dirty="0">
                    <a:latin typeface="Cambria Math" panose="02040503050406030204" pitchFamily="18" charset="0"/>
                  </a:rPr>
                </a:br>
                <a:br>
                  <a:rPr lang="sv-SE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sv-SE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sv-SE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sv-SE">
                        <a:latin typeface="Cambria Math" panose="02040503050406030204" pitchFamily="18" charset="0"/>
                      </a:rPr>
                      <m:t>=1−</m:t>
                    </m:r>
                    <m:nary>
                      <m:naryPr>
                        <m:chr m:val="∑"/>
                        <m:limLoc m:val="undOvr"/>
                        <m:grow m:val="on"/>
                        <m:ctrlPr>
                          <a:rPr lang="sv-SE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sv-SE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sv-SE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sv-SE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p>
                          <m:sSupPr>
                            <m:ctrlPr>
                              <a:rPr lang="sv-S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sv-S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sv-S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sv-SE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sv-SE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sv-SE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sv-SE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sv-S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r>
                  <a:rPr lang="sv-SE" dirty="0">
                    <a:latin typeface="Cambria Math" panose="02040503050406030204" pitchFamily="18" charset="0"/>
                  </a:rPr>
                  <a:t>  där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sv-S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sv-SE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sv-SE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sv-SE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sv-SE" dirty="0">
                    <a:latin typeface="Cambria Math" panose="02040503050406030204" pitchFamily="18" charset="0"/>
                  </a:rPr>
                  <a:t> är antalet observationer från klass k bland observationerna inom nod i. </a:t>
                </a:r>
              </a:p>
              <a:p>
                <a:r>
                  <a:rPr lang="sv-SE" dirty="0">
                    <a:latin typeface="Cambria Math" panose="02040503050406030204" pitchFamily="18" charset="0"/>
                  </a:rPr>
                  <a:t>Exempel: </a:t>
                </a:r>
              </a:p>
              <a:p>
                <a:pPr marL="0" indent="0">
                  <a:buNone/>
                </a:pPr>
                <a:endParaRPr lang="sv-SE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Platshållare för innehåll 2">
                <a:extLst>
                  <a:ext uri="{FF2B5EF4-FFF2-40B4-BE49-F238E27FC236}">
                    <a16:creationId xmlns:a16="http://schemas.microsoft.com/office/drawing/2014/main" id="{19980891-6C55-6A67-D313-A7DDCE90123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 r="-290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Bildobjekt 4">
            <a:extLst>
              <a:ext uri="{FF2B5EF4-FFF2-40B4-BE49-F238E27FC236}">
                <a16:creationId xmlns:a16="http://schemas.microsoft.com/office/drawing/2014/main" id="{F69A762F-4AA1-76B9-084D-34DD4E54BF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304" y="4470050"/>
            <a:ext cx="7702685" cy="1944367"/>
          </a:xfrm>
          <a:prstGeom prst="rect">
            <a:avLst/>
          </a:prstGeom>
        </p:spPr>
      </p:pic>
      <p:pic>
        <p:nvPicPr>
          <p:cNvPr id="7" name="Bildobjekt 6">
            <a:extLst>
              <a:ext uri="{FF2B5EF4-FFF2-40B4-BE49-F238E27FC236}">
                <a16:creationId xmlns:a16="http://schemas.microsoft.com/office/drawing/2014/main" id="{2DDA6FA0-A90A-94CB-5EB8-B060AD8399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3539" y="3251447"/>
            <a:ext cx="3886200" cy="3400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84270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7DE8B6AE-E03B-225B-27FC-D7D5C3F6F0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sv-SE" dirty="0"/>
              <a:t>Sannolikhetsprediktioner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tshållare för innehåll 2">
                <a:extLst>
                  <a:ext uri="{FF2B5EF4-FFF2-40B4-BE49-F238E27FC236}">
                    <a16:creationId xmlns:a16="http://schemas.microsoft.com/office/drawing/2014/main" id="{B9BBC4C1-7D11-1EB1-4711-D301D291975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25562"/>
                <a:ext cx="10515600" cy="5350445"/>
              </a:xfrm>
            </p:spPr>
            <p:txBody>
              <a:bodyPr>
                <a:normAutofit fontScale="77500" lnSpcReduction="20000"/>
              </a:bodyPr>
              <a:lstStyle/>
              <a:p>
                <a:r>
                  <a:rPr lang="sv-SE" dirty="0"/>
                  <a:t>Sannolikheter för olika klasser predikteras genom att ta värdena i ”</a:t>
                </a:r>
                <a:r>
                  <a:rPr lang="sv-SE" dirty="0" err="1"/>
                  <a:t>value</a:t>
                </a:r>
                <a:r>
                  <a:rPr lang="sv-SE" dirty="0"/>
                  <a:t>” dividerat med värdet i </a:t>
                </a:r>
                <a:r>
                  <a:rPr lang="sv-SE" dirty="0" err="1"/>
                  <a:t>samples</a:t>
                </a:r>
                <a:r>
                  <a:rPr lang="sv-SE" dirty="0"/>
                  <a:t>. </a:t>
                </a:r>
              </a:p>
              <a:p>
                <a:endParaRPr lang="sv-SE" dirty="0"/>
              </a:p>
              <a:p>
                <a:r>
                  <a:rPr lang="sv-SE" dirty="0"/>
                  <a:t>Exempel: </a:t>
                </a:r>
              </a:p>
              <a:p>
                <a:pPr marL="0" indent="0">
                  <a:buNone/>
                </a:pPr>
                <a:r>
                  <a:rPr lang="sv-SE" dirty="0"/>
                  <a:t>Antag att en blomma har: </a:t>
                </a:r>
                <a:br>
                  <a:rPr lang="sv-SE" dirty="0"/>
                </a:br>
                <a:r>
                  <a:rPr lang="sv-SE" dirty="0" err="1"/>
                  <a:t>petal_length</a:t>
                </a:r>
                <a:r>
                  <a:rPr lang="sv-SE" dirty="0"/>
                  <a:t> = 2.6cm, </a:t>
                </a:r>
                <a:r>
                  <a:rPr lang="sv-SE" dirty="0" err="1"/>
                  <a:t>petal_width</a:t>
                </a:r>
                <a:r>
                  <a:rPr lang="sv-SE" dirty="0"/>
                  <a:t> = 1.6 cm.</a:t>
                </a:r>
                <a:br>
                  <a:rPr lang="sv-SE" dirty="0"/>
                </a:br>
                <a:br>
                  <a:rPr lang="sv-SE" dirty="0"/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sv-SE" i="1" dirty="0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sv-SE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sv-SE" i="1" dirty="0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sv-SE" i="1" dirty="0">
                              <a:latin typeface="Cambria Math" panose="02040503050406030204" pitchFamily="18" charset="0"/>
                            </a:rPr>
                            <m:t>ⅇ</m:t>
                          </m:r>
                          <m:r>
                            <a:rPr lang="sv-SE" b="0" i="1" dirty="0" smtClean="0">
                              <a:latin typeface="Cambria Math" panose="02040503050406030204" pitchFamily="18" charset="0"/>
                            </a:rPr>
                            <m:t>𝑡𝑜𝑠</m:t>
                          </m:r>
                          <m:r>
                            <a:rPr lang="sv-SE" i="1" dirty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sv-SE" i="1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sv-SE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sv-SE" i="1" dirty="0">
                              <a:latin typeface="Cambria Math" panose="02040503050406030204" pitchFamily="18" charset="0"/>
                            </a:rPr>
                            <m:t>0</m:t>
                          </m:r>
                        </m:num>
                        <m:den>
                          <m:r>
                            <a:rPr lang="sv-SE" i="1" dirty="0">
                              <a:latin typeface="Cambria Math" panose="02040503050406030204" pitchFamily="18" charset="0"/>
                            </a:rPr>
                            <m:t>54</m:t>
                          </m:r>
                        </m:den>
                      </m:f>
                    </m:oMath>
                  </m:oMathPara>
                </a14:m>
                <a:endParaRPr lang="sv-S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sv-SE" i="1" dirty="0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sv-SE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sv-SE" i="1" dirty="0" smtClean="0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sv-SE" b="0" i="1" dirty="0" smtClean="0">
                              <a:latin typeface="Cambria Math" panose="02040503050406030204" pitchFamily="18" charset="0"/>
                            </a:rPr>
                            <m:t>𝑒𝑟𝑠𝑖𝑐𝑜𝑙𝑜𝑟</m:t>
                          </m:r>
                        </m:e>
                      </m:d>
                      <m:r>
                        <a:rPr lang="sv-SE" i="1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sv-SE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sv-SE" b="0" i="1" dirty="0" smtClean="0">
                              <a:latin typeface="Cambria Math" panose="02040503050406030204" pitchFamily="18" charset="0"/>
                            </a:rPr>
                            <m:t>49</m:t>
                          </m:r>
                        </m:num>
                        <m:den>
                          <m:r>
                            <a:rPr lang="sv-SE" i="1" dirty="0">
                              <a:latin typeface="Cambria Math" panose="02040503050406030204" pitchFamily="18" charset="0"/>
                            </a:rPr>
                            <m:t>54</m:t>
                          </m:r>
                        </m:den>
                      </m:f>
                    </m:oMath>
                    <m:oMath xmlns:m="http://schemas.openxmlformats.org/officeDocument/2006/math">
                      <m:r>
                        <a:rPr lang="sv-SE" i="1" dirty="0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sv-SE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sv-SE" i="1" dirty="0" smtClean="0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sv-SE" b="0" i="1" dirty="0" smtClean="0">
                              <a:latin typeface="Cambria Math" panose="02040503050406030204" pitchFamily="18" charset="0"/>
                            </a:rPr>
                            <m:t>𝑖𝑟𝑔𝑖𝑛𝑖𝑐𝑎</m:t>
                          </m:r>
                        </m:e>
                      </m:d>
                      <m:r>
                        <a:rPr lang="sv-SE" i="1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sv-SE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sv-SE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sv-SE" i="1" dirty="0">
                              <a:latin typeface="Cambria Math" panose="02040503050406030204" pitchFamily="18" charset="0"/>
                            </a:rPr>
                            <m:t>54</m:t>
                          </m:r>
                        </m:den>
                      </m:f>
                    </m:oMath>
                  </m:oMathPara>
                </a14:m>
                <a:endParaRPr lang="sv-SE" dirty="0"/>
              </a:p>
              <a:p>
                <a:pPr marL="0" indent="0">
                  <a:buNone/>
                </a:pPr>
                <a:endParaRPr lang="sv-SE" dirty="0"/>
              </a:p>
              <a:p>
                <a:pPr marL="0" indent="0">
                  <a:buNone/>
                </a:pPr>
                <a:r>
                  <a:rPr lang="sv-SE" dirty="0"/>
                  <a:t>Om </a:t>
                </a:r>
                <a:r>
                  <a:rPr lang="sv-SE" dirty="0" err="1"/>
                  <a:t>petal_length</a:t>
                </a:r>
                <a:r>
                  <a:rPr lang="sv-SE" dirty="0"/>
                  <a:t> = 10 cm, </a:t>
                </a:r>
                <a:r>
                  <a:rPr lang="sv-SE" dirty="0" err="1"/>
                  <a:t>petal_width</a:t>
                </a:r>
                <a:r>
                  <a:rPr lang="sv-SE" dirty="0"/>
                  <a:t> = 1.6 cm </a:t>
                </a:r>
                <a:br>
                  <a:rPr lang="sv-SE" dirty="0"/>
                </a:br>
                <a:r>
                  <a:rPr lang="sv-SE" dirty="0">
                    <a:sym typeface="Wingdings" panose="05000000000000000000" pitchFamily="2" charset="2"/>
                  </a:rPr>
                  <a:t>Exakt samma predikterade sannolikheter. </a:t>
                </a:r>
              </a:p>
              <a:p>
                <a:r>
                  <a:rPr lang="sv-SE" dirty="0">
                    <a:sym typeface="Wingdings" panose="05000000000000000000" pitchFamily="2" charset="2"/>
                  </a:rPr>
                  <a:t>Exemplet belyser att modellen ger ”stela”/</a:t>
                </a:r>
                <a:r>
                  <a:rPr lang="sv-SE" dirty="0" err="1">
                    <a:sym typeface="Wingdings" panose="05000000000000000000" pitchFamily="2" charset="2"/>
                  </a:rPr>
                  <a:t>oflexibla</a:t>
                </a:r>
                <a:r>
                  <a:rPr lang="sv-SE" dirty="0">
                    <a:sym typeface="Wingdings" panose="05000000000000000000" pitchFamily="2" charset="2"/>
                  </a:rPr>
                  <a:t> sannolikheter. </a:t>
                </a:r>
                <a:br>
                  <a:rPr lang="sv-SE" dirty="0"/>
                </a:br>
                <a:endParaRPr lang="sv-SE" dirty="0"/>
              </a:p>
              <a:p>
                <a:pPr marL="0" indent="0">
                  <a:buNone/>
                </a:pPr>
                <a:endParaRPr lang="sv-SE" dirty="0"/>
              </a:p>
              <a:p>
                <a:pPr marL="0" indent="0">
                  <a:buNone/>
                </a:pPr>
                <a:endParaRPr lang="sv-SE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sv-SE" dirty="0"/>
              </a:p>
              <a:p>
                <a:endParaRPr lang="sv-SE" dirty="0"/>
              </a:p>
              <a:p>
                <a:pPr marL="0" indent="0">
                  <a:buNone/>
                </a:pPr>
                <a:endParaRPr lang="sv-SE" dirty="0"/>
              </a:p>
            </p:txBody>
          </p:sp>
        </mc:Choice>
        <mc:Fallback xmlns="">
          <p:sp>
            <p:nvSpPr>
              <p:cNvPr id="3" name="Platshållare för innehåll 2">
                <a:extLst>
                  <a:ext uri="{FF2B5EF4-FFF2-40B4-BE49-F238E27FC236}">
                    <a16:creationId xmlns:a16="http://schemas.microsoft.com/office/drawing/2014/main" id="{B9BBC4C1-7D11-1EB1-4711-D301D291975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25562"/>
                <a:ext cx="10515600" cy="5350445"/>
              </a:xfrm>
              <a:blipFill>
                <a:blip r:embed="rId2"/>
                <a:stretch>
                  <a:fillRect l="-754" t="-2278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Bildobjekt 3">
            <a:extLst>
              <a:ext uri="{FF2B5EF4-FFF2-40B4-BE49-F238E27FC236}">
                <a16:creationId xmlns:a16="http://schemas.microsoft.com/office/drawing/2014/main" id="{552A5CD6-F462-3F9D-8CB8-2FFAFC9B8E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6870" y="1966794"/>
            <a:ext cx="4075022" cy="3565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626649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AD99D9-47E0-731E-B794-38557D9D6C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DFCF9CD-9DFD-3AF4-5A85-1FAA48B3DC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1736B78-5724-A0E3-6367-A1D5AAAEB8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296011"/>
            <a:ext cx="12192000" cy="3561989"/>
            <a:chOff x="0" y="3296011"/>
            <a:chExt cx="12192000" cy="3561989"/>
          </a:xfrm>
          <a:effectLst>
            <a:outerShdw blurRad="254000" dist="152400" dir="16200000" rotWithShape="0">
              <a:prstClr val="black">
                <a:alpha val="10000"/>
              </a:prstClr>
            </a:outerShdw>
          </a:effectLst>
        </p:grpSpPr>
        <p:grpSp>
          <p:nvGrpSpPr>
            <p:cNvPr id="16" name="Group 9">
              <a:extLst>
                <a:ext uri="{FF2B5EF4-FFF2-40B4-BE49-F238E27FC236}">
                  <a16:creationId xmlns:a16="http://schemas.microsoft.com/office/drawing/2014/main" id="{ABB2ABBC-498D-0AEC-FE03-5D6A77FC37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0" y="3681702"/>
              <a:ext cx="12192000" cy="3176298"/>
              <a:chOff x="0" y="3681702"/>
              <a:chExt cx="12192000" cy="3176298"/>
            </a:xfrm>
          </p:grpSpPr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B2C2B9A7-341F-88D7-6323-08582F49B59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4179E751-46DE-9E83-A1C5-5BB236D241C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bg1">
                  <a:alpha val="14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7" name="Group 10">
              <a:extLst>
                <a:ext uri="{FF2B5EF4-FFF2-40B4-BE49-F238E27FC236}">
                  <a16:creationId xmlns:a16="http://schemas.microsoft.com/office/drawing/2014/main" id="{777B1B4C-D094-5230-19A5-D61DFBE443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44" y="3296011"/>
              <a:ext cx="12191456" cy="2849975"/>
              <a:chOff x="544" y="3296011"/>
              <a:chExt cx="12191456" cy="2849975"/>
            </a:xfrm>
          </p:grpSpPr>
          <p:sp>
            <p:nvSpPr>
              <p:cNvPr id="18" name="Freeform: Shape 11">
                <a:extLst>
                  <a:ext uri="{FF2B5EF4-FFF2-40B4-BE49-F238E27FC236}">
                    <a16:creationId xmlns:a16="http://schemas.microsoft.com/office/drawing/2014/main" id="{433C47E6-CEF2-CD56-980B-DB53DA3A515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D04973CC-2532-61CA-60F9-4CCD75B6B88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blipFill>
                <a:blip r:embed="rId2">
                  <a:alphaModFix amt="57000"/>
                </a:blip>
                <a:tile tx="0" ty="0" sx="100000" sy="100000" flip="none" algn="tl"/>
              </a:blip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2" name="Rubrik 1">
            <a:extLst>
              <a:ext uri="{FF2B5EF4-FFF2-40B4-BE49-F238E27FC236}">
                <a16:creationId xmlns:a16="http://schemas.microsoft.com/office/drawing/2014/main" id="{E80E47B1-E21C-FFE5-F32D-BE47372B01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120676"/>
            <a:ext cx="7021513" cy="230832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1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Videor</a:t>
            </a:r>
            <a:r>
              <a:rPr lang="en-US" sz="61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om </a:t>
            </a:r>
            <a:r>
              <a:rPr lang="en-US" sz="61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övriga</a:t>
            </a:r>
            <a:r>
              <a:rPr lang="en-US" sz="61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modeler</a:t>
            </a:r>
          </a:p>
        </p:txBody>
      </p:sp>
    </p:spTree>
    <p:extLst>
      <p:ext uri="{BB962C8B-B14F-4D97-AF65-F5344CB8AC3E}">
        <p14:creationId xmlns:p14="http://schemas.microsoft.com/office/powerpoint/2010/main" val="169403631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25E47C-B127-8F44-01FD-82888F45AE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A6975B-6963-D1E8-4CC8-3D44E8BB7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Videor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0CDCB0-7BBB-1E6C-D854-E9A1315E1C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17236"/>
            <a:ext cx="10515600" cy="4351338"/>
          </a:xfrm>
        </p:spPr>
        <p:txBody>
          <a:bodyPr>
            <a:normAutofit/>
          </a:bodyPr>
          <a:lstStyle/>
          <a:p>
            <a:r>
              <a:rPr lang="sv-SE" dirty="0"/>
              <a:t>Video om SVM: </a:t>
            </a:r>
            <a:r>
              <a:rPr lang="sv-SE" dirty="0">
                <a:hlinkClick r:id="rId2"/>
              </a:rPr>
              <a:t>https://www.youtube.com/watch?v=NzGiMYinmog&amp;list=PLgzaMbMPEHEx9Als3F3sKKXexWnyEKH45&amp;index=8</a:t>
            </a:r>
            <a:r>
              <a:rPr lang="sv-SE" dirty="0"/>
              <a:t> </a:t>
            </a:r>
          </a:p>
          <a:p>
            <a:r>
              <a:rPr lang="sv-SE" dirty="0"/>
              <a:t>Video om beslutsträd: </a:t>
            </a:r>
            <a:br>
              <a:rPr lang="sv-SE" dirty="0"/>
            </a:br>
            <a:r>
              <a:rPr lang="sv-SE" dirty="0">
                <a:hlinkClick r:id="rId3"/>
              </a:rPr>
              <a:t>https://www.youtube.com/watch?v=X-uXL4x2Ap0&amp;list=PLgzaMbMPEHEx9Als3F3sKKXexWnyEKH45&amp;index=9</a:t>
            </a:r>
            <a:r>
              <a:rPr lang="sv-SE" dirty="0"/>
              <a:t> </a:t>
            </a:r>
          </a:p>
          <a:p>
            <a:r>
              <a:rPr lang="sv-SE" dirty="0"/>
              <a:t>Video om ensemble </a:t>
            </a:r>
            <a:r>
              <a:rPr lang="sv-SE" dirty="0" err="1"/>
              <a:t>learning</a:t>
            </a:r>
            <a:r>
              <a:rPr lang="sv-SE" dirty="0"/>
              <a:t> och </a:t>
            </a:r>
            <a:r>
              <a:rPr lang="sv-SE" dirty="0" err="1"/>
              <a:t>random</a:t>
            </a:r>
            <a:r>
              <a:rPr lang="sv-SE" dirty="0"/>
              <a:t> </a:t>
            </a:r>
            <a:r>
              <a:rPr lang="sv-SE" dirty="0" err="1"/>
              <a:t>forest</a:t>
            </a:r>
            <a:r>
              <a:rPr lang="sv-SE" dirty="0"/>
              <a:t>: </a:t>
            </a:r>
            <a:br>
              <a:rPr lang="sv-SE" dirty="0"/>
            </a:br>
            <a:r>
              <a:rPr lang="sv-SE" dirty="0">
                <a:hlinkClick r:id="rId4"/>
              </a:rPr>
              <a:t>https://www.youtube.com/watch?v=-kErwtsQRKk&amp;list=PLgzaMbMPEHEx9Als3F3sKKXexWnyEKH45&amp;index=10&amp;t=817s</a:t>
            </a:r>
            <a:r>
              <a:rPr lang="sv-SE" dirty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272889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4" name="Rectangle 1030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C334001-094D-63A0-A018-37201751CA3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346" r="9089" b="19731"/>
          <a:stretch/>
        </p:blipFill>
        <p:spPr bwMode="auto">
          <a:xfrm>
            <a:off x="3523488" y="10"/>
            <a:ext cx="866851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3" name="Rectangle 1032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00357D-6D3C-8D05-5928-B82F2A3443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4023360" cy="3204134"/>
          </a:xfrm>
        </p:spPr>
        <p:txBody>
          <a:bodyPr anchor="b">
            <a:normAutofit/>
          </a:bodyPr>
          <a:lstStyle/>
          <a:p>
            <a:pPr algn="l"/>
            <a:r>
              <a:rPr lang="sv-SE" sz="4400" dirty="0"/>
              <a:t>Klassificering</a:t>
            </a:r>
            <a:endParaRPr lang="en-US" sz="4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512326-AE3B-5A69-406A-690AB3B9A8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023359" cy="1208141"/>
          </a:xfrm>
        </p:spPr>
        <p:txBody>
          <a:bodyPr>
            <a:normAutofit/>
          </a:bodyPr>
          <a:lstStyle/>
          <a:p>
            <a:pPr algn="l"/>
            <a:r>
              <a:rPr lang="en-US" sz="1900" dirty="0"/>
              <a:t>Antonio Prgomet</a:t>
            </a:r>
          </a:p>
          <a:p>
            <a:pPr algn="l"/>
            <a:r>
              <a:rPr lang="en-US" sz="1900" dirty="0"/>
              <a:t>Delta AI &amp; Negotiations</a:t>
            </a:r>
            <a:endParaRPr lang="en-US" sz="1900" b="0" i="0" dirty="0">
              <a:effectLst/>
              <a:latin typeface="-apple-system"/>
              <a:hlinkClick r:id="rId3"/>
            </a:endParaRPr>
          </a:p>
          <a:p>
            <a:pPr algn="l"/>
            <a:r>
              <a:rPr lang="en-US" sz="1900" b="0" i="0" dirty="0">
                <a:effectLst/>
                <a:latin typeface="-apple-system"/>
                <a:hlinkClick r:id="rId3"/>
              </a:rPr>
              <a:t>www.linkedin.com/in/antonioprgomet</a:t>
            </a:r>
            <a:r>
              <a:rPr lang="en-US" sz="1900" b="0" i="0" dirty="0">
                <a:effectLst/>
                <a:latin typeface="-apple-system"/>
              </a:rPr>
              <a:t> </a:t>
            </a:r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191F68B-65E9-DFBA-E1C1-4FA3006690C7}"/>
              </a:ext>
            </a:extLst>
          </p:cNvPr>
          <p:cNvSpPr/>
          <p:nvPr/>
        </p:nvSpPr>
        <p:spPr>
          <a:xfrm>
            <a:off x="381740" y="390617"/>
            <a:ext cx="1136342" cy="58539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449613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754</TotalTime>
  <Words>1339</Words>
  <Application>Microsoft Office PowerPoint</Application>
  <PresentationFormat>Bredbild</PresentationFormat>
  <Paragraphs>132</Paragraphs>
  <Slides>28</Slides>
  <Notes>0</Notes>
  <HiddenSlides>0</HiddenSlides>
  <MMClips>0</MMClips>
  <ScaleCrop>false</ScaleCrop>
  <HeadingPairs>
    <vt:vector size="6" baseType="variant">
      <vt:variant>
        <vt:lpstr>Använt teckensnitt</vt:lpstr>
      </vt:variant>
      <vt:variant>
        <vt:i4>6</vt:i4>
      </vt:variant>
      <vt:variant>
        <vt:lpstr>Tema</vt:lpstr>
      </vt:variant>
      <vt:variant>
        <vt:i4>1</vt:i4>
      </vt:variant>
      <vt:variant>
        <vt:lpstr>Bildrubriker</vt:lpstr>
      </vt:variant>
      <vt:variant>
        <vt:i4>28</vt:i4>
      </vt:variant>
    </vt:vector>
  </HeadingPairs>
  <TitlesOfParts>
    <vt:vector size="35" baseType="lpstr">
      <vt:lpstr>-apple-system</vt:lpstr>
      <vt:lpstr>Arial</vt:lpstr>
      <vt:lpstr>Calibri</vt:lpstr>
      <vt:lpstr>Calibri Light</vt:lpstr>
      <vt:lpstr>Cambria Math</vt:lpstr>
      <vt:lpstr>Wingdings</vt:lpstr>
      <vt:lpstr>Office Theme</vt:lpstr>
      <vt:lpstr>Klassificering</vt:lpstr>
      <vt:lpstr>Tillämpningsområden</vt:lpstr>
      <vt:lpstr>Tillämpningsområden</vt:lpstr>
      <vt:lpstr>Utvärdering</vt:lpstr>
      <vt:lpstr>Utvärdering</vt:lpstr>
      <vt:lpstr>Utvärdering</vt:lpstr>
      <vt:lpstr>Confusion Matrix</vt:lpstr>
      <vt:lpstr>Confusion Matrix</vt:lpstr>
      <vt:lpstr>Exempel: Confusion Matrix</vt:lpstr>
      <vt:lpstr>Exempel: Confusion Matrix</vt:lpstr>
      <vt:lpstr>Precision, Recall, F1</vt:lpstr>
      <vt:lpstr>Precision</vt:lpstr>
      <vt:lpstr>Recall</vt:lpstr>
      <vt:lpstr>Precision / Recall Trade-off</vt:lpstr>
      <vt:lpstr>F_1  Scorⅇ</vt:lpstr>
      <vt:lpstr>OvO &amp; OvR</vt:lpstr>
      <vt:lpstr>OvO &amp; OvR – Bakgrund</vt:lpstr>
      <vt:lpstr>One-versues-One (OvO)</vt:lpstr>
      <vt:lpstr>One-versus-Rest (OvR)</vt:lpstr>
      <vt:lpstr>Confusion Matrix</vt:lpstr>
      <vt:lpstr>Beslutsträd</vt:lpstr>
      <vt:lpstr>Tolkning</vt:lpstr>
      <vt:lpstr>Tolkning</vt:lpstr>
      <vt:lpstr>Gini Koefficienten</vt:lpstr>
      <vt:lpstr>Sannolikhetsprediktioner</vt:lpstr>
      <vt:lpstr>Videor om övriga modeler</vt:lpstr>
      <vt:lpstr>Videor</vt:lpstr>
      <vt:lpstr>Klassificering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Introduktion till Maskininlärning</dc:title>
  <dc:creator>Antonio Prgomet</dc:creator>
  <cp:lastModifiedBy>Antonio Prgomet</cp:lastModifiedBy>
  <cp:revision>58</cp:revision>
  <dcterms:created xsi:type="dcterms:W3CDTF">2023-05-22T17:34:32Z</dcterms:created>
  <dcterms:modified xsi:type="dcterms:W3CDTF">2026-08-21T20:16:19Z</dcterms:modified>
</cp:coreProperties>
</file>