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2" r:id="rId3"/>
    <p:sldId id="281" r:id="rId4"/>
    <p:sldId id="318" r:id="rId5"/>
    <p:sldId id="370" r:id="rId6"/>
    <p:sldId id="361" r:id="rId7"/>
    <p:sldId id="324" r:id="rId8"/>
    <p:sldId id="362" r:id="rId9"/>
    <p:sldId id="334" r:id="rId10"/>
    <p:sldId id="335" r:id="rId11"/>
    <p:sldId id="364" r:id="rId12"/>
    <p:sldId id="365" r:id="rId13"/>
    <p:sldId id="367" r:id="rId14"/>
    <p:sldId id="368" r:id="rId15"/>
    <p:sldId id="363" r:id="rId16"/>
    <p:sldId id="338" r:id="rId17"/>
    <p:sldId id="341" r:id="rId18"/>
    <p:sldId id="345" r:id="rId19"/>
    <p:sldId id="339" r:id="rId20"/>
    <p:sldId id="342" r:id="rId21"/>
    <p:sldId id="346" r:id="rId22"/>
    <p:sldId id="343" r:id="rId23"/>
    <p:sldId id="344" r:id="rId24"/>
    <p:sldId id="354" r:id="rId25"/>
    <p:sldId id="347" r:id="rId26"/>
    <p:sldId id="348" r:id="rId27"/>
    <p:sldId id="349" r:id="rId28"/>
    <p:sldId id="350" r:id="rId29"/>
    <p:sldId id="372" r:id="rId30"/>
    <p:sldId id="371" r:id="rId31"/>
    <p:sldId id="320" r:id="rId32"/>
    <p:sldId id="374" r:id="rId33"/>
    <p:sldId id="337" r:id="rId34"/>
    <p:sldId id="373" r:id="rId35"/>
    <p:sldId id="37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4309B-E70E-BD30-F320-CE64618D3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43526-FD96-22E0-41D5-CF00B6FEE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04767-80E4-8E36-5405-D9F1FA477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C5523-3843-2255-9C84-383D2D3AD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A67EE-0184-D821-1984-0519A66C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3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89CCE-F807-BF9E-3CCB-30ECBBD5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034F2-F9C4-3789-8F37-74DD5D0C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9FF65-FFC6-7FAB-7A5D-A18B7D397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27DCF-0293-4A04-DE86-B66C77E1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71ACF-E761-B156-1387-BFEB778C3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8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C1B10-A9EA-6C7B-0CE1-5451A54D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613C76-6227-554A-BE8D-02F96E9E5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56EB2-A505-1C9E-86B6-8033153C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E5F2A-CD0A-AB68-22FC-41D83ED72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141B2-B753-4987-D99B-431ADE0A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5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88089-7BBC-11D2-5E78-22D3BB35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A57F-6E49-697C-3CB4-57D8EA3D29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B2EF6D-290F-717D-E2A1-03CACE1A3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6663E-140B-2C2A-8DDB-752D1DBF2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65582-8AB5-5E42-7ECA-9B75D84A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39748-5BDA-9F86-0FE0-F2547F4A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36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2E266-0ACA-8C43-87F8-4F9E9A26F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EF0A5-7116-0303-EF15-30365F561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D641E-FAB4-7444-6662-5EA0195E6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0177A-8F8B-4372-4DB0-8E47B632D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86222-A202-8B54-6ECB-BE335D2F72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E2B33-1620-EC0A-FCC1-DA9BB2DFB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C2633-D610-61CB-C35B-AB15A605E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8E863-CA7B-8AE1-5477-1458364C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09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32EE-E2EC-545A-FC82-2D7AB196C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5A98D-B8C6-4CD4-C50C-AFCD6038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4D232-F58A-D2A4-B4CB-468F19789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4E405E-2919-6920-78C0-D42AC548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83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042DBB-C806-D47D-C520-58C337671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AFF8F-F4BC-CB39-F347-D2DEDCEEE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7F907-A95F-EA8E-C344-34DD47F9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387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A0A85-C6F8-B8B4-DC8E-974BDE6E9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D872C-605F-AD67-AB49-1006E1019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67B82-00E3-2596-E7DC-80247BE09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688962-35F2-EE4A-BE39-A30CBBD6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2FE1C-95D5-2937-7C80-901A095D3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9936A-2B64-A910-65BA-B5AB3C42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6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30EC7-321E-0A26-3342-82CF913E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C173D-1FD5-10EE-C222-98763624F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F8A95-56AE-D735-0482-64FC31F06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8C7E1-49FF-C653-C009-D7DF47669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6E614-D6C9-C319-0BB1-37D47105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5792-9400-58EC-4CBA-EF0C22DD5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3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2A57-C337-53F5-170C-2394AF3ED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48EBB-3088-2D14-A80C-3207896FA4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05139-4D1F-CCDE-264C-CF4E9A35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55B1C-0274-2E62-3B30-74720C70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B65A8-FE12-F5D9-DD9C-68A8898F0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089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93FE12-92A2-D296-9080-07FFDEE54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D45C4-6178-A89A-7618-202693BA2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CEEBD-7CD2-3D55-A73C-DB54AE01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43379-7E41-9C7C-33EA-113D4143B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A07B1-B007-0460-F50A-A9A26D33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5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264D1-50B2-2C30-32B2-18551FA8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0299F-BA52-06F6-7386-1B194C75F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585CA-4430-61DC-0DB0-1861FDBA8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33C59-707E-4958-AF1C-D76E845B6479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344DA-4C90-5B75-820B-EB2FC49F35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C8FA4-08C5-9353-D012-E2B00E872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8A35-18AF-4D79-A72C-890C9A49AA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34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ntonioprgome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antonioprgomet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0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334001-094D-63A0-A018-37201751CA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6" r="9089" b="1973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00357D-6D3C-8D05-5928-B82F2A344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759845" cy="3204134"/>
          </a:xfrm>
        </p:spPr>
        <p:txBody>
          <a:bodyPr anchor="b">
            <a:normAutofit/>
          </a:bodyPr>
          <a:lstStyle/>
          <a:p>
            <a:pPr algn="l"/>
            <a:r>
              <a:rPr lang="sv-SE" sz="4400" dirty="0"/>
              <a:t>Linjär Regression 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12326-AE3B-5A69-406A-690AB3B9A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900" dirty="0"/>
              <a:t>Antonio Prgomet</a:t>
            </a:r>
          </a:p>
          <a:p>
            <a:pPr algn="l"/>
            <a:r>
              <a:rPr lang="en-US" sz="1900" dirty="0"/>
              <a:t>Delta AI &amp; Negotiations</a:t>
            </a:r>
            <a:endParaRPr lang="en-US" sz="1900" b="0" i="0" dirty="0">
              <a:effectLst/>
              <a:latin typeface="-apple-system"/>
              <a:hlinkClick r:id="rId3"/>
            </a:endParaRPr>
          </a:p>
          <a:p>
            <a:pPr algn="l"/>
            <a:r>
              <a:rPr lang="en-US" sz="1900" b="0" i="0" dirty="0">
                <a:effectLst/>
                <a:latin typeface="-apple-system"/>
                <a:hlinkClick r:id="rId3"/>
              </a:rPr>
              <a:t>www.linkedin.com/in/antonioprgomet</a:t>
            </a:r>
            <a:r>
              <a:rPr lang="en-US" sz="1900" b="0" i="0" dirty="0">
                <a:effectLst/>
                <a:latin typeface="-apple-system"/>
              </a:rPr>
              <a:t> 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1F68B-65E9-DFBA-E1C1-4FA3006690C7}"/>
              </a:ext>
            </a:extLst>
          </p:cNvPr>
          <p:cNvSpPr/>
          <p:nvPr/>
        </p:nvSpPr>
        <p:spPr>
          <a:xfrm>
            <a:off x="381740" y="390617"/>
            <a:ext cx="1136342" cy="5853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69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Linjär</a:t>
            </a:r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Regression</a:t>
            </a:r>
          </a:p>
        </p:txBody>
      </p:sp>
    </p:spTree>
    <p:extLst>
      <p:ext uri="{BB962C8B-B14F-4D97-AF65-F5344CB8AC3E}">
        <p14:creationId xmlns:p14="http://schemas.microsoft.com/office/powerpoint/2010/main" val="403623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84DF55BE-B4AB-4BA1-BDE1-E9F7FB3F1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5F23F5-9D34-C8C9-2D8E-6849F1D81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39578"/>
            <a:ext cx="5981278" cy="1684638"/>
          </a:xfrm>
        </p:spPr>
        <p:txBody>
          <a:bodyPr>
            <a:normAutofit/>
          </a:bodyPr>
          <a:lstStyle/>
          <a:p>
            <a:r>
              <a:rPr lang="sv-SE" sz="4000" dirty="0"/>
              <a:t>Regressionsproblem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E0196A-B7A0-1672-9F82-7D4830AFAD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979720"/>
                <a:ext cx="5981278" cy="433870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sv-SE" sz="2000" dirty="0"/>
                  <a:t>Den beroende variabeln (y = inkomst) har kontinuerliga värden.</a:t>
                </a:r>
              </a:p>
              <a:p>
                <a:r>
                  <a:rPr lang="sv-SE" sz="2000" dirty="0"/>
                  <a:t>En linjär regressions modell (med en variabel):</a:t>
                </a:r>
                <a:br>
                  <a:rPr lang="sv-SE" sz="2000" dirty="0"/>
                </a:br>
                <a:br>
                  <a:rPr lang="sv-SE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sv-SE" sz="190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v-SE" sz="19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9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sv-SE" sz="19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sv-SE" sz="190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sv-SE" sz="19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19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sv-SE" sz="19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19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sv-SE" sz="1900" i="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000" dirty="0"/>
              </a:p>
              <a:p>
                <a:endParaRPr lang="sv-SE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v-SE" sz="2000" b="0" i="1" dirty="0" smtClean="0">
                          <a:latin typeface="Cambria Math" panose="02040503050406030204" pitchFamily="18" charset="0"/>
                        </a:rPr>
                        <m:t>𝑖𝑛𝑘𝑜𝑚𝑠𝑡</m:t>
                      </m:r>
                      <m:r>
                        <a:rPr lang="sv-SE" sz="200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sz="2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sv-SE" sz="200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sv-SE" sz="200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sz="2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sz="200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sv-SE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sz="2000" b="0" i="1" dirty="0" smtClean="0">
                          <a:latin typeface="Cambria Math" panose="02040503050406030204" pitchFamily="18" charset="0"/>
                        </a:rPr>
                        <m:t>∗å</m:t>
                      </m:r>
                      <m:r>
                        <a:rPr lang="sv-SE" sz="2000" b="0" i="1" dirty="0" smtClean="0">
                          <a:latin typeface="Cambria Math" panose="02040503050406030204" pitchFamily="18" charset="0"/>
                        </a:rPr>
                        <m:t>𝑙𝑑𝑒𝑟</m:t>
                      </m:r>
                      <m:r>
                        <a:rPr lang="sv-SE" sz="2000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sv-SE" sz="2000" dirty="0"/>
              </a:p>
              <a:p>
                <a:r>
                  <a:rPr lang="sv-SE" sz="2000" dirty="0"/>
                  <a:t>Några modeller som kan användas för att</a:t>
                </a:r>
                <a:br>
                  <a:rPr lang="sv-SE" sz="2000" dirty="0"/>
                </a:br>
                <a:r>
                  <a:rPr lang="sv-SE" sz="2000" dirty="0"/>
                  <a:t>hantera regressionsproblem: </a:t>
                </a:r>
                <a:br>
                  <a:rPr lang="sv-SE" sz="2000" dirty="0"/>
                </a:br>
                <a:br>
                  <a:rPr lang="sv-SE" sz="2000" dirty="0"/>
                </a:br>
                <a:r>
                  <a:rPr lang="sv-SE" sz="2000" dirty="0"/>
                  <a:t>- Linjär Regression</a:t>
                </a:r>
                <a:br>
                  <a:rPr lang="sv-SE" sz="2000" dirty="0"/>
                </a:br>
                <a:r>
                  <a:rPr lang="sv-SE" sz="2000" dirty="0"/>
                  <a:t>- Support </a:t>
                </a:r>
                <a:r>
                  <a:rPr lang="sv-SE" sz="2000" dirty="0" err="1"/>
                  <a:t>Vector</a:t>
                </a:r>
                <a:r>
                  <a:rPr lang="sv-SE" sz="2000" dirty="0"/>
                  <a:t> Machines (SVM)</a:t>
                </a:r>
                <a:br>
                  <a:rPr lang="sv-SE" sz="2000" dirty="0"/>
                </a:br>
                <a:r>
                  <a:rPr lang="sv-SE" sz="2000" dirty="0"/>
                  <a:t>- Beslutsträd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E0196A-B7A0-1672-9F82-7D4830AFA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979720"/>
                <a:ext cx="5981278" cy="4338702"/>
              </a:xfrm>
              <a:blipFill>
                <a:blip r:embed="rId2"/>
                <a:stretch>
                  <a:fillRect l="-917" t="-211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red line and blue dots&#10;&#10;Description automatically generated with low confidence">
            <a:extLst>
              <a:ext uri="{FF2B5EF4-FFF2-40B4-BE49-F238E27FC236}">
                <a16:creationId xmlns:a16="http://schemas.microsoft.com/office/drawing/2014/main" id="{D42EE222-9D04-5361-3709-E4CDB855C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484" y="3064915"/>
            <a:ext cx="5677469" cy="370024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4D88B18-A1DC-3BDD-46B7-E5E7250D3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66198"/>
              </p:ext>
            </p:extLst>
          </p:nvPr>
        </p:nvGraphicFramePr>
        <p:xfrm>
          <a:off x="7566227" y="539578"/>
          <a:ext cx="4019152" cy="24324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9576">
                  <a:extLst>
                    <a:ext uri="{9D8B030D-6E8A-4147-A177-3AD203B41FA5}">
                      <a16:colId xmlns:a16="http://schemas.microsoft.com/office/drawing/2014/main" val="3034583794"/>
                    </a:ext>
                  </a:extLst>
                </a:gridCol>
                <a:gridCol w="2009576">
                  <a:extLst>
                    <a:ext uri="{9D8B030D-6E8A-4147-A177-3AD203B41FA5}">
                      <a16:colId xmlns:a16="http://schemas.microsoft.com/office/drawing/2014/main" val="2298116693"/>
                    </a:ext>
                  </a:extLst>
                </a:gridCol>
              </a:tblGrid>
              <a:tr h="48338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Inkomst</a:t>
                      </a:r>
                      <a:r>
                        <a:rPr lang="en-US" sz="2400" b="1" u="none" strike="noStrike" dirty="0">
                          <a:effectLst/>
                        </a:rPr>
                        <a:t> (y)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 err="1">
                          <a:effectLst/>
                        </a:rPr>
                        <a:t>Ålder</a:t>
                      </a:r>
                      <a:r>
                        <a:rPr lang="en-US" sz="2400" b="1" u="none" strike="noStrike" dirty="0">
                          <a:effectLst/>
                        </a:rPr>
                        <a:t> (x)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4240529"/>
                  </a:ext>
                </a:extLst>
              </a:tr>
              <a:tr h="4833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58500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58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30043886"/>
                  </a:ext>
                </a:extLst>
              </a:tr>
              <a:tr h="4833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42000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29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4297989"/>
                  </a:ext>
                </a:extLst>
              </a:tr>
              <a:tr h="48338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34000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3520805"/>
                  </a:ext>
                </a:extLst>
              </a:tr>
              <a:tr h="498973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39000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42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Brödtex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0853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348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8673143-5F4F-7B59-0A56-400B0591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Multipel Linjär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A04FE6FB-7293-34DF-7680-A3994A74C3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dirty="0"/>
                  <a:t>Modell: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sv-SE" sz="280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v-SE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8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sv-SE" sz="280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sv-SE" sz="280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sv-SE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8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sv-SE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sz="2800" i="0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sv-SE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sv-SE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sv-SE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sv-S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sv-SE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sv-SE" dirty="0"/>
              </a:p>
              <a:p>
                <a:r>
                  <a:rPr lang="sv-SE" dirty="0"/>
                  <a:t>När vi har data så blir det (om vi antar att det finns två variabler, p = 2, samt 3 observationer) enligt ekvationerna nedan.  </a:t>
                </a:r>
              </a:p>
              <a:p>
                <a:pPr marL="0" indent="0">
                  <a:buNone/>
                </a:pPr>
                <a:endParaRPr lang="sv-SE" dirty="0"/>
              </a:p>
              <a:p>
                <a:pPr marL="0" indent="0" algn="r">
                  <a:buNone/>
                </a:pPr>
                <a:r>
                  <a:rPr lang="sv-SE" b="1" dirty="0"/>
                  <a:t>Notera, när vi</a:t>
                </a:r>
                <a:br>
                  <a:rPr lang="sv-SE" b="1" dirty="0"/>
                </a:br>
                <a:r>
                  <a:rPr lang="sv-SE" b="1" dirty="0"/>
                  <a:t>har faktisk data</a:t>
                </a:r>
                <a:br>
                  <a:rPr lang="sv-SE" b="1" dirty="0"/>
                </a:br>
                <a:r>
                  <a:rPr lang="sv-SE" b="1" dirty="0"/>
                  <a:t>så blir det små</a:t>
                </a:r>
                <a:br>
                  <a:rPr lang="sv-SE" b="1" dirty="0"/>
                </a:br>
                <a:r>
                  <a:rPr lang="sv-SE" b="1" dirty="0"/>
                  <a:t>bokstäver:</a:t>
                </a:r>
                <a:br>
                  <a:rPr lang="sv-SE" b="1" dirty="0"/>
                </a:br>
                <a:r>
                  <a:rPr lang="sv-SE" b="1" dirty="0"/>
                  <a:t>X </a:t>
                </a:r>
                <a:r>
                  <a:rPr lang="sv-SE" b="1" dirty="0">
                    <a:sym typeface="Wingdings" panose="05000000000000000000" pitchFamily="2" charset="2"/>
                  </a:rPr>
                  <a:t> x</a:t>
                </a:r>
              </a:p>
              <a:p>
                <a:pPr marL="0" indent="0" algn="r">
                  <a:buNone/>
                </a:pPr>
                <a:r>
                  <a:rPr lang="sv-SE" b="1" dirty="0">
                    <a:sym typeface="Wingdings" panose="05000000000000000000" pitchFamily="2" charset="2"/>
                  </a:rPr>
                  <a:t>Y  y</a:t>
                </a:r>
                <a:endParaRPr lang="sv-SE" b="1" dirty="0"/>
              </a:p>
              <a:p>
                <a:pPr algn="r"/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A04FE6FB-7293-34DF-7680-A3994A74C3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1913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Bildobjekt 7">
            <a:extLst>
              <a:ext uri="{FF2B5EF4-FFF2-40B4-BE49-F238E27FC236}">
                <a16:creationId xmlns:a16="http://schemas.microsoft.com/office/drawing/2014/main" id="{4F0DD4D9-AA52-62F6-200C-F2A076C79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57" y="3332022"/>
            <a:ext cx="6899799" cy="284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705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>
            <a:extLst>
              <a:ext uri="{FF2B5EF4-FFF2-40B4-BE49-F238E27FC236}">
                <a16:creationId xmlns:a16="http://schemas.microsoft.com/office/drawing/2014/main" id="{E7B8719F-EC88-0DCC-387A-36E0B80F730F}"/>
              </a:ext>
            </a:extLst>
          </p:cNvPr>
          <p:cNvSpPr txBox="1"/>
          <p:nvPr/>
        </p:nvSpPr>
        <p:spPr>
          <a:xfrm>
            <a:off x="7361499" y="995423"/>
            <a:ext cx="43752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800" dirty="0"/>
              <a:t>Med två variabler så har man ett plan istället för en linje.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800" dirty="0"/>
              <a:t>Har man fler variabler så kan vi inte visualisera det. 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FD62E96B-FBD4-7FB8-2FBA-578F3B101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57" y="361950"/>
            <a:ext cx="5762625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2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Parameter </a:t>
            </a:r>
            <a:r>
              <a:rPr lang="en-US" sz="6100" dirty="0" err="1">
                <a:solidFill>
                  <a:schemeClr val="bg1"/>
                </a:solidFill>
              </a:rPr>
              <a:t>S</a:t>
            </a:r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kattning</a:t>
            </a:r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- </a:t>
            </a:r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Linjär</a:t>
            </a:r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Regression</a:t>
            </a:r>
          </a:p>
        </p:txBody>
      </p:sp>
    </p:spTree>
    <p:extLst>
      <p:ext uri="{BB962C8B-B14F-4D97-AF65-F5344CB8AC3E}">
        <p14:creationId xmlns:p14="http://schemas.microsoft.com/office/powerpoint/2010/main" val="55328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1B9B483-C6C4-2C54-D138-6C5D3BEE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6402"/>
            <a:ext cx="10515600" cy="1325563"/>
          </a:xfrm>
        </p:spPr>
        <p:txBody>
          <a:bodyPr/>
          <a:lstStyle/>
          <a:p>
            <a:r>
              <a:rPr lang="sv-SE" dirty="0"/>
              <a:t>Parameterskattning (1/2)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C5A8F0BF-79BF-1C61-CCD8-23663E40B9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Vi </a:t>
                </a:r>
                <a:r>
                  <a:rPr lang="en-US" dirty="0" err="1"/>
                  <a:t>har</a:t>
                </a:r>
                <a:r>
                  <a:rPr lang="en-US" dirty="0"/>
                  <a:t> data: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,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sv-SE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sv-SE" i="1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 err="1"/>
                  <a:t>och</a:t>
                </a:r>
                <a:r>
                  <a:rPr lang="en-US" dirty="0"/>
                  <a:t> </a:t>
                </a:r>
                <a:r>
                  <a:rPr lang="en-US" dirty="0" err="1"/>
                  <a:t>behöver</a:t>
                </a:r>
                <a:r>
                  <a:rPr lang="en-US" dirty="0"/>
                  <a:t> </a:t>
                </a:r>
                <a:r>
                  <a:rPr lang="en-US" dirty="0" err="1"/>
                  <a:t>från</a:t>
                </a:r>
                <a:r>
                  <a:rPr lang="en-US" dirty="0"/>
                  <a:t> det </a:t>
                </a:r>
                <a:r>
                  <a:rPr lang="en-US" dirty="0" err="1"/>
                  <a:t>skatta</a:t>
                </a:r>
                <a:r>
                  <a:rPr lang="en-US" dirty="0"/>
                  <a:t> de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 err="1"/>
                  <a:t>fixa</a:t>
                </a:r>
                <a:r>
                  <a:rPr lang="en-US" dirty="0"/>
                  <a:t> men </a:t>
                </a:r>
                <a:r>
                  <a:rPr lang="en-US" dirty="0" err="1"/>
                  <a:t>okända</a:t>
                </a:r>
                <a:r>
                  <a:rPr lang="en-US" dirty="0"/>
                  <a:t> </a:t>
                </a:r>
                <a:r>
                  <a:rPr lang="en-US" dirty="0" err="1"/>
                  <a:t>parametrarna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sv-SE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sv-SE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sv-SE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sv-SE" b="0" i="0" dirty="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Hur</a:t>
                </a:r>
                <a:r>
                  <a:rPr lang="en-US" dirty="0"/>
                  <a:t> </a:t>
                </a:r>
                <a:r>
                  <a:rPr lang="en-US" dirty="0" err="1"/>
                  <a:t>gör</a:t>
                </a:r>
                <a:r>
                  <a:rPr lang="en-US" dirty="0"/>
                  <a:t> vi det?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Vi </a:t>
                </a:r>
                <a:r>
                  <a:rPr lang="en-US" dirty="0" err="1"/>
                  <a:t>har</a:t>
                </a:r>
                <a:r>
                  <a:rPr lang="en-US" dirty="0"/>
                  <a:t> </a:t>
                </a:r>
                <a:r>
                  <a:rPr lang="en-US" dirty="0" err="1"/>
                  <a:t>en</a:t>
                </a:r>
                <a:r>
                  <a:rPr lang="en-US" dirty="0"/>
                  <a:t> “cost function”, Mean Squared Error (MSE):</a:t>
                </a:r>
                <a:br>
                  <a:rPr lang="en-US" dirty="0"/>
                </a:br>
                <a:br>
                  <a:rPr lang="sv-SE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𝑀𝑆𝐸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br>
                  <a:rPr lang="en-US" dirty="0"/>
                </a:br>
                <a:r>
                  <a:rPr lang="en-US" dirty="0" err="1"/>
                  <a:t>Där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sv-SE" i="1" dirty="0">
                        <a:latin typeface="Cambria Math" panose="02040503050406030204" pitchFamily="18" charset="0"/>
                      </a:rPr>
                      <m:t>+ … 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sv-SE" i="1" dirty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 err="1"/>
                  <a:t>Välj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sv-SE" i="1" dirty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 lang="sv-SE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som</a:t>
                </a:r>
                <a:r>
                  <a:rPr lang="en-US" dirty="0"/>
                  <a:t> </a:t>
                </a:r>
                <a:r>
                  <a:rPr lang="en-US" dirty="0" err="1"/>
                  <a:t>minimerar</a:t>
                </a:r>
                <a:r>
                  <a:rPr lang="en-US" dirty="0"/>
                  <a:t> MSE. </a:t>
                </a:r>
              </a:p>
              <a:p>
                <a:r>
                  <a:rPr lang="en-US" b="1" dirty="0" err="1"/>
                  <a:t>Notera</a:t>
                </a:r>
                <a:r>
                  <a:rPr lang="en-US" b="1" dirty="0"/>
                  <a:t>, </a:t>
                </a:r>
                <a:r>
                  <a:rPr lang="en-US" b="1" dirty="0" err="1"/>
                  <a:t>en</a:t>
                </a:r>
                <a:r>
                  <a:rPr lang="en-US" b="1" dirty="0"/>
                  <a:t> “</a:t>
                </a:r>
                <a:r>
                  <a:rPr lang="en-US" b="1" dirty="0" err="1"/>
                  <a:t>hatt</a:t>
                </a:r>
                <a:r>
                  <a:rPr lang="en-US" b="1" dirty="0"/>
                  <a:t>” </a:t>
                </a:r>
                <a:r>
                  <a:rPr lang="en-US" b="1" dirty="0" err="1"/>
                  <a:t>på</a:t>
                </a:r>
                <a:r>
                  <a:rPr lang="en-US" b="1" dirty="0"/>
                  <a:t> </a:t>
                </a:r>
                <a:r>
                  <a:rPr lang="en-US" b="1" dirty="0" err="1"/>
                  <a:t>en</a:t>
                </a:r>
                <a:r>
                  <a:rPr lang="en-US" b="1" dirty="0"/>
                  <a:t> parameter </a:t>
                </a:r>
                <a:r>
                  <a:rPr lang="en-US" b="1" dirty="0" err="1"/>
                  <a:t>betyder</a:t>
                </a:r>
                <a:r>
                  <a:rPr lang="en-US" b="1" dirty="0"/>
                  <a:t> </a:t>
                </a:r>
                <a:r>
                  <a:rPr lang="en-US" b="1" dirty="0" err="1"/>
                  <a:t>att</a:t>
                </a:r>
                <a:r>
                  <a:rPr lang="en-US" b="1" dirty="0"/>
                  <a:t> den </a:t>
                </a:r>
                <a:r>
                  <a:rPr lang="en-US" b="1" dirty="0" err="1"/>
                  <a:t>är</a:t>
                </a:r>
                <a:r>
                  <a:rPr lang="en-US" b="1" dirty="0"/>
                  <a:t> </a:t>
                </a:r>
                <a:r>
                  <a:rPr lang="en-US" b="1" dirty="0" err="1"/>
                  <a:t>skattad</a:t>
                </a:r>
                <a:r>
                  <a:rPr lang="en-US" b="1" dirty="0"/>
                  <a:t>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betyder</a:t>
                </a:r>
                <a:r>
                  <a:rPr lang="en-US" b="1" dirty="0"/>
                  <a:t> </a:t>
                </a:r>
                <a:r>
                  <a:rPr lang="en-US" b="1" dirty="0" err="1"/>
                  <a:t>att</a:t>
                </a:r>
                <a:r>
                  <a:rPr lang="en-US" b="1" dirty="0"/>
                  <a:t> det </a:t>
                </a:r>
                <a:r>
                  <a:rPr lang="en-US" b="1" dirty="0" err="1"/>
                  <a:t>är</a:t>
                </a:r>
                <a:r>
                  <a:rPr lang="en-US" b="1" dirty="0"/>
                  <a:t> </a:t>
                </a:r>
                <a:r>
                  <a:rPr lang="en-US" b="1" dirty="0" err="1"/>
                  <a:t>ett</a:t>
                </a:r>
                <a:r>
                  <a:rPr lang="en-US" b="1" dirty="0"/>
                  <a:t> </a:t>
                </a:r>
                <a:r>
                  <a:rPr lang="en-US" b="1" dirty="0" err="1"/>
                  <a:t>predikterat</a:t>
                </a:r>
                <a:r>
                  <a:rPr lang="en-US" b="1" dirty="0"/>
                  <a:t> y </a:t>
                </a:r>
                <a:r>
                  <a:rPr lang="en-US" b="1" dirty="0" err="1"/>
                  <a:t>värde</a:t>
                </a:r>
                <a:r>
                  <a:rPr lang="en-US" b="1" dirty="0"/>
                  <a:t>. </a:t>
                </a: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C5A8F0BF-79BF-1C61-CCD8-23663E40B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308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291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Gradient Descent (vi ska ha </a:t>
            </a:r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hört</a:t>
            </a:r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det)</a:t>
            </a:r>
          </a:p>
        </p:txBody>
      </p:sp>
    </p:spTree>
    <p:extLst>
      <p:ext uri="{BB962C8B-B14F-4D97-AF65-F5344CB8AC3E}">
        <p14:creationId xmlns:p14="http://schemas.microsoft.com/office/powerpoint/2010/main" val="199521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F0FC289-9FC5-3B31-BCE3-6AAAFAA4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Gradient </a:t>
            </a:r>
            <a:r>
              <a:rPr lang="sv-SE" dirty="0" err="1"/>
              <a:t>Descent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7F342A6-781A-DEE5-53F9-1773D7026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975" y="1825624"/>
            <a:ext cx="5181600" cy="4351338"/>
          </a:xfrm>
        </p:spPr>
        <p:txBody>
          <a:bodyPr>
            <a:normAutofit fontScale="92500"/>
          </a:bodyPr>
          <a:lstStyle/>
          <a:p>
            <a:r>
              <a:rPr lang="sv-SE" dirty="0"/>
              <a:t>Gradient </a:t>
            </a:r>
            <a:r>
              <a:rPr lang="sv-SE" dirty="0" err="1"/>
              <a:t>Descent</a:t>
            </a:r>
            <a:r>
              <a:rPr lang="sv-SE" dirty="0"/>
              <a:t> är en optimeringsalgoritm som används för att hitta en funktions minimum eller maximum. </a:t>
            </a:r>
          </a:p>
          <a:p>
            <a:r>
              <a:rPr lang="sv-SE" dirty="0"/>
              <a:t>Intuition: För att hitta en funktions minimum </a:t>
            </a:r>
            <a:r>
              <a:rPr lang="sv-SE" dirty="0">
                <a:sym typeface="Wingdings" panose="05000000000000000000" pitchFamily="2" charset="2"/>
              </a:rPr>
              <a:t> Gå i den riktning som har en lutning nedåt, fortsätt gå fram tills lutningen är 0. </a:t>
            </a:r>
          </a:p>
          <a:p>
            <a:r>
              <a:rPr lang="sv-SE" dirty="0"/>
              <a:t>Bra att ha en intuition, men datorn gör jobbet åt oss </a:t>
            </a:r>
            <a:r>
              <a:rPr lang="sv-SE" dirty="0">
                <a:sym typeface="Wingdings" panose="05000000000000000000" pitchFamily="2" charset="2"/>
              </a:rPr>
              <a:t> </a:t>
            </a:r>
            <a:endParaRPr lang="sv-SE" dirty="0"/>
          </a:p>
          <a:p>
            <a:endParaRPr lang="sv-SE" dirty="0">
              <a:sym typeface="Wingdings" panose="05000000000000000000" pitchFamily="2" charset="2"/>
            </a:endParaRPr>
          </a:p>
          <a:p>
            <a:endParaRPr lang="sv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885DDEE9-3F15-40F2-F05B-83C01C54AA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sv-SE"/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4D29428A-31AE-13CF-D2B8-72451D47A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560" y="1615196"/>
            <a:ext cx="6749988" cy="456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1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brik 4">
            <a:extLst>
              <a:ext uri="{FF2B5EF4-FFF2-40B4-BE49-F238E27FC236}">
                <a16:creationId xmlns:a16="http://schemas.microsoft.com/office/drawing/2014/main" id="{AE28A59E-F0DD-3E1C-B86C-1C367B69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738"/>
            <a:ext cx="10515600" cy="1325563"/>
          </a:xfrm>
        </p:spPr>
        <p:txBody>
          <a:bodyPr/>
          <a:lstStyle/>
          <a:p>
            <a:r>
              <a:rPr lang="sv-SE" dirty="0"/>
              <a:t>Gradient </a:t>
            </a:r>
            <a:r>
              <a:rPr lang="sv-SE" dirty="0" err="1"/>
              <a:t>Descent</a:t>
            </a:r>
            <a:endParaRPr lang="sv-SE" dirty="0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A047890A-9318-6CC1-CF79-D28C7B5B6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1"/>
            <a:ext cx="10515600" cy="4351338"/>
          </a:xfrm>
        </p:spPr>
        <p:txBody>
          <a:bodyPr/>
          <a:lstStyle/>
          <a:p>
            <a:r>
              <a:rPr lang="sv-SE" dirty="0"/>
              <a:t>Potentiellt problem: Vissa funktioner har ett lokalt minimum, och algoritmen kanske fastnar där och hittar därför inte det globala minimumet som är det vi är ute efter. </a:t>
            </a:r>
          </a:p>
          <a:p>
            <a:endParaRPr lang="sv-SE" dirty="0"/>
          </a:p>
          <a:p>
            <a:endParaRPr lang="sv-SE" dirty="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8EFC7EBB-E9F5-BBDD-62BB-63AF1DD22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2836864"/>
            <a:ext cx="6019800" cy="362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10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Utvärdering</a:t>
            </a:r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Root Mean Squared Error (RMSE)</a:t>
            </a:r>
          </a:p>
        </p:txBody>
      </p:sp>
    </p:spTree>
    <p:extLst>
      <p:ext uri="{BB962C8B-B14F-4D97-AF65-F5344CB8AC3E}">
        <p14:creationId xmlns:p14="http://schemas.microsoft.com/office/powerpoint/2010/main" val="3003081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EC03A2D-4DF1-7755-0F5D-B18963FC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Mean Squared Error (RMSE)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E229F08-0450-17A4-0529-FBEAED8D13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sv-SE" dirty="0"/>
                  <a:t>Scenario: Vi har tränat en modell för ett regressionsproblem på träningsdata. Nu skall vi utvärdera den på validerings </a:t>
                </a:r>
                <a:r>
                  <a:rPr lang="sv-SE" dirty="0" err="1"/>
                  <a:t>datan</a:t>
                </a:r>
                <a:r>
                  <a:rPr lang="sv-SE" dirty="0"/>
                  <a:t> (eller test </a:t>
                </a:r>
                <a:r>
                  <a:rPr lang="sv-SE" dirty="0" err="1"/>
                  <a:t>datan</a:t>
                </a:r>
                <a:r>
                  <a:rPr lang="sv-SE" dirty="0"/>
                  <a:t> om vi kommit så långt). </a:t>
                </a:r>
              </a:p>
              <a:p>
                <a:r>
                  <a:rPr lang="sv-SE" dirty="0"/>
                  <a:t>Det vanligaste måttet är RMSE. </a:t>
                </a:r>
              </a:p>
              <a:p>
                <a:endParaRPr lang="sv-S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sv-SE" sz="2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𝑅𝑀</m:t>
                      </m:r>
                      <m:r>
                        <a:rPr kumimoji="0" lang="en-US" sz="2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𝑆𝐸</m:t>
                      </m:r>
                      <m:r>
                        <a:rPr kumimoji="0" lang="en-US" sz="26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US" sz="2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grow m:val="on"/>
                              <m:ctrlPr>
                                <a:rPr lang="en-US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6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6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6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600" i="1" dirty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6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2600" i="1" dirty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2600" i="1" dirty="0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sz="2600" i="1" dirty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600" i="1" dirty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sv-SE" dirty="0"/>
              </a:p>
              <a:p>
                <a:r>
                  <a:rPr lang="sv-SE" dirty="0"/>
                  <a:t>Vi bryr oss inte om det är en positivt eller negativ skillnad, därför kvadrerar vi: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v-SE" dirty="0"/>
                  <a:t> </a:t>
                </a:r>
                <a:r>
                  <a:rPr lang="sv-SE" dirty="0">
                    <a:sym typeface="Wingdings" panose="05000000000000000000" pitchFamily="2" charset="2"/>
                  </a:rPr>
                  <a:t> </a:t>
                </a:r>
                <a:r>
                  <a:rPr lang="sv-SE" b="1" dirty="0" err="1">
                    <a:sym typeface="Wingdings" panose="05000000000000000000" pitchFamily="2" charset="2"/>
                  </a:rPr>
                  <a:t>Squared</a:t>
                </a:r>
                <a:r>
                  <a:rPr lang="sv-SE" b="1" dirty="0">
                    <a:sym typeface="Wingdings" panose="05000000000000000000" pitchFamily="2" charset="2"/>
                  </a:rPr>
                  <a:t> </a:t>
                </a:r>
                <a:r>
                  <a:rPr lang="sv-SE" b="1" dirty="0" err="1">
                    <a:sym typeface="Wingdings" panose="05000000000000000000" pitchFamily="2" charset="2"/>
                  </a:rPr>
                  <a:t>Error</a:t>
                </a:r>
                <a:r>
                  <a:rPr lang="sv-SE" b="1" dirty="0">
                    <a:sym typeface="Wingdings" panose="05000000000000000000" pitchFamily="2" charset="2"/>
                  </a:rPr>
                  <a:t>.</a:t>
                </a:r>
              </a:p>
              <a:p>
                <a:r>
                  <a:rPr lang="sv-SE" dirty="0"/>
                  <a:t>Vi beräknar medelvärdet för </a:t>
                </a:r>
                <a:r>
                  <a:rPr lang="sv-SE" dirty="0" err="1"/>
                  <a:t>Squared</a:t>
                </a:r>
                <a:r>
                  <a:rPr lang="sv-SE" dirty="0"/>
                  <a:t> </a:t>
                </a:r>
                <a:r>
                  <a:rPr lang="sv-SE" dirty="0" err="1"/>
                  <a:t>Error</a:t>
                </a:r>
                <a:r>
                  <a:rPr lang="sv-SE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8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800" i="1" dirty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8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sv-SE" dirty="0"/>
                  <a:t> </a:t>
                </a:r>
                <a:r>
                  <a:rPr lang="sv-SE" dirty="0">
                    <a:sym typeface="Wingdings" panose="05000000000000000000" pitchFamily="2" charset="2"/>
                  </a:rPr>
                  <a:t> </a:t>
                </a:r>
                <a:r>
                  <a:rPr lang="sv-SE" b="1" dirty="0" err="1">
                    <a:sym typeface="Wingdings" panose="05000000000000000000" pitchFamily="2" charset="2"/>
                  </a:rPr>
                  <a:t>Mean</a:t>
                </a:r>
                <a:r>
                  <a:rPr lang="sv-SE" b="1" dirty="0">
                    <a:sym typeface="Wingdings" panose="05000000000000000000" pitchFamily="2" charset="2"/>
                  </a:rPr>
                  <a:t> </a:t>
                </a:r>
                <a:r>
                  <a:rPr lang="sv-SE" b="1" dirty="0" err="1">
                    <a:sym typeface="Wingdings" panose="05000000000000000000" pitchFamily="2" charset="2"/>
                  </a:rPr>
                  <a:t>Squared</a:t>
                </a:r>
                <a:r>
                  <a:rPr lang="sv-SE" b="1" dirty="0">
                    <a:sym typeface="Wingdings" panose="05000000000000000000" pitchFamily="2" charset="2"/>
                  </a:rPr>
                  <a:t> </a:t>
                </a:r>
                <a:r>
                  <a:rPr lang="sv-SE" b="1" dirty="0" err="1">
                    <a:sym typeface="Wingdings" panose="05000000000000000000" pitchFamily="2" charset="2"/>
                  </a:rPr>
                  <a:t>Error</a:t>
                </a:r>
                <a:r>
                  <a:rPr lang="sv-SE" b="1" dirty="0">
                    <a:sym typeface="Wingdings" panose="05000000000000000000" pitchFamily="2" charset="2"/>
                  </a:rPr>
                  <a:t> (MSE).</a:t>
                </a:r>
              </a:p>
              <a:p>
                <a:r>
                  <a:rPr lang="sv-SE" dirty="0"/>
                  <a:t>För att kunna tolka måttet så tar vi roten ur MSE så får vi samma skala som för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sv-SE" dirty="0"/>
                  <a:t> (och inte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sv-SE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sv-SE" dirty="0"/>
                  <a:t>):  </a:t>
                </a:r>
                <a:r>
                  <a:rPr lang="sv-SE" dirty="0">
                    <a:sym typeface="Wingdings" panose="05000000000000000000" pitchFamily="2" charset="2"/>
                  </a:rPr>
                  <a:t> </a:t>
                </a:r>
                <a:r>
                  <a:rPr lang="sv-SE" b="1" dirty="0" err="1">
                    <a:sym typeface="Wingdings" panose="05000000000000000000" pitchFamily="2" charset="2"/>
                  </a:rPr>
                  <a:t>Root</a:t>
                </a:r>
                <a:r>
                  <a:rPr lang="sv-SE" b="1" dirty="0">
                    <a:sym typeface="Wingdings" panose="05000000000000000000" pitchFamily="2" charset="2"/>
                  </a:rPr>
                  <a:t> </a:t>
                </a:r>
                <a:r>
                  <a:rPr lang="sv-SE" b="1" dirty="0" err="1">
                    <a:sym typeface="Wingdings" panose="05000000000000000000" pitchFamily="2" charset="2"/>
                  </a:rPr>
                  <a:t>Mean</a:t>
                </a:r>
                <a:r>
                  <a:rPr lang="sv-SE" b="1" dirty="0">
                    <a:sym typeface="Wingdings" panose="05000000000000000000" pitchFamily="2" charset="2"/>
                  </a:rPr>
                  <a:t> </a:t>
                </a:r>
                <a:r>
                  <a:rPr lang="sv-SE" b="1" dirty="0" err="1">
                    <a:sym typeface="Wingdings" panose="05000000000000000000" pitchFamily="2" charset="2"/>
                  </a:rPr>
                  <a:t>Squared</a:t>
                </a:r>
                <a:r>
                  <a:rPr lang="sv-SE" b="1" dirty="0">
                    <a:sym typeface="Wingdings" panose="05000000000000000000" pitchFamily="2" charset="2"/>
                  </a:rPr>
                  <a:t> </a:t>
                </a:r>
                <a:r>
                  <a:rPr lang="sv-SE" b="1" dirty="0" err="1">
                    <a:sym typeface="Wingdings" panose="05000000000000000000" pitchFamily="2" charset="2"/>
                  </a:rPr>
                  <a:t>Error</a:t>
                </a:r>
                <a:r>
                  <a:rPr lang="sv-SE" b="1" dirty="0">
                    <a:sym typeface="Wingdings" panose="05000000000000000000" pitchFamily="2" charset="2"/>
                  </a:rPr>
                  <a:t>.</a:t>
                </a:r>
              </a:p>
              <a:p>
                <a:endParaRPr lang="sv-SE" b="1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E229F08-0450-17A4-0529-FBEAED8D13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 b="-7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82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2F11484-4EE0-A0C3-6682-BD9FD3AB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sv-SE" sz="4000"/>
              <a:t>RMSE - Tolkning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DF3F6DA-24EF-884B-0CE2-9EE88BD9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algn="ctr"/>
            <a:r>
              <a:rPr lang="sv-SE" sz="2000" b="1">
                <a:sym typeface="Wingdings" panose="05000000000000000000" pitchFamily="2" charset="2"/>
              </a:rPr>
              <a:t>RMSE kan vi tolka som våra prediktioners medelavstånd till de sanna värdena. </a:t>
            </a:r>
            <a:endParaRPr lang="sv-SE" sz="2000" b="1"/>
          </a:p>
          <a:p>
            <a:pPr algn="ctr"/>
            <a:endParaRPr lang="sv-SE" sz="2000"/>
          </a:p>
        </p:txBody>
      </p:sp>
      <p:pic>
        <p:nvPicPr>
          <p:cNvPr id="5" name="Bildobjekt 4" descr="En bild som visar handskrift, linje, Teckensnitt, Graf&#10;&#10;Automatiskt genererad beskrivning">
            <a:extLst>
              <a:ext uri="{FF2B5EF4-FFF2-40B4-BE49-F238E27FC236}">
                <a16:creationId xmlns:a16="http://schemas.microsoft.com/office/drawing/2014/main" id="{6AB99587-A3DD-BAE5-3F3A-7D584ECD5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99" y="1968507"/>
            <a:ext cx="8136401" cy="394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18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35EAC31-996D-D337-E9DB-3785B7201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sv-SE" dirty="0"/>
              <a:t>RMSE - Exempel</a:t>
            </a:r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C9ED2359-3455-5143-02C5-5507BD4DB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4383" y="1253331"/>
            <a:ext cx="8323234" cy="4351338"/>
          </a:xfrm>
        </p:spPr>
      </p:pic>
    </p:spTree>
    <p:extLst>
      <p:ext uri="{BB962C8B-B14F-4D97-AF65-F5344CB8AC3E}">
        <p14:creationId xmlns:p14="http://schemas.microsoft.com/office/powerpoint/2010/main" val="2677760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Polynomregression</a:t>
            </a:r>
            <a:endParaRPr lang="en-US" sz="6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4171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7592396-816A-FA66-0B21-4741C700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Polynomregression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D5D1546-1178-F844-7385-FB74C90F47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v-SE" dirty="0"/>
                  <a:t>Ibland approximeras </a:t>
                </a:r>
                <a:r>
                  <a:rPr lang="sv-SE" dirty="0" err="1"/>
                  <a:t>datan</a:t>
                </a:r>
                <a:r>
                  <a:rPr lang="sv-SE" dirty="0"/>
                  <a:t> inte bra av en linjär kurva </a:t>
                </a:r>
                <a:r>
                  <a:rPr lang="sv-SE" dirty="0">
                    <a:sym typeface="Wingdings" panose="05000000000000000000" pitchFamily="2" charset="2"/>
                  </a:rPr>
                  <a:t> Lösningen kan vara att testa polynomregression. Modellform: </a:t>
                </a:r>
              </a:p>
              <a:p>
                <a:endParaRPr lang="sv-SE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sv-S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sv-SE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sv-SE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sv-S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sv-SE" i="1" dirty="0">
                  <a:latin typeface="Cambria Math" panose="02040503050406030204" pitchFamily="18" charset="0"/>
                </a:endParaRPr>
              </a:p>
              <a:p>
                <a:r>
                  <a:rPr lang="sv-SE" dirty="0">
                    <a:sym typeface="Wingdings" panose="05000000000000000000" pitchFamily="2" charset="2"/>
                  </a:rPr>
                  <a:t>Notera, det är fortfarande en linjär modell eftersom den är linjär i parametrarna. </a:t>
                </a:r>
              </a:p>
              <a:p>
                <a:r>
                  <a:rPr lang="sv-SE" dirty="0">
                    <a:sym typeface="Wingdings" panose="05000000000000000000" pitchFamily="2" charset="2"/>
                  </a:rPr>
                  <a:t>Enkelt att tillämpa i Scikit-</a:t>
                </a:r>
                <a:r>
                  <a:rPr lang="sv-SE" dirty="0" err="1">
                    <a:sym typeface="Wingdings" panose="05000000000000000000" pitchFamily="2" charset="2"/>
                  </a:rPr>
                  <a:t>learn</a:t>
                </a:r>
                <a:r>
                  <a:rPr lang="sv-SE" dirty="0">
                    <a:sym typeface="Wingdings" panose="05000000000000000000" pitchFamily="2" charset="2"/>
                  </a:rPr>
                  <a:t>: </a:t>
                </a:r>
                <a:r>
                  <a:rPr lang="sv-SE" b="1" i="0" dirty="0" err="1">
                    <a:solidFill>
                      <a:srgbClr val="212529"/>
                    </a:solidFill>
                    <a:effectLst/>
                    <a:latin typeface="Courier New" panose="02070309020205020404" pitchFamily="49" charset="0"/>
                  </a:rPr>
                  <a:t>PolynomialFeatures</a:t>
                </a:r>
                <a:endParaRPr lang="sv-SE" b="1" i="0" dirty="0">
                  <a:solidFill>
                    <a:srgbClr val="212529"/>
                  </a:solidFill>
                  <a:effectLst/>
                  <a:latin typeface="Courier New" panose="02070309020205020404" pitchFamily="49" charset="0"/>
                </a:endParaRP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D5D1546-1178-F844-7385-FB74C90F47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01636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FF5CE89F-8740-5EE6-2B77-026C59854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187" y="1193523"/>
            <a:ext cx="6803625" cy="447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73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Bias-Variance Trade-off</a:t>
            </a:r>
          </a:p>
        </p:txBody>
      </p:sp>
    </p:spTree>
    <p:extLst>
      <p:ext uri="{BB962C8B-B14F-4D97-AF65-F5344CB8AC3E}">
        <p14:creationId xmlns:p14="http://schemas.microsoft.com/office/powerpoint/2010/main" val="14021019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8F280E9-FACA-26B5-9941-C116E3F9D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Bias </a:t>
            </a:r>
            <a:r>
              <a:rPr lang="sv-SE" dirty="0" err="1"/>
              <a:t>Variance</a:t>
            </a:r>
            <a:r>
              <a:rPr lang="sv-SE" dirty="0"/>
              <a:t> </a:t>
            </a:r>
            <a:r>
              <a:rPr lang="sv-SE" dirty="0" err="1"/>
              <a:t>Trade</a:t>
            </a:r>
            <a:r>
              <a:rPr lang="sv-SE" dirty="0"/>
              <a:t>-off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621D876-3550-AD68-1216-0A1AB0BCF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v-SE" dirty="0"/>
              <a:t>En modells ”</a:t>
            </a:r>
            <a:r>
              <a:rPr lang="sv-SE" dirty="0" err="1"/>
              <a:t>generalization</a:t>
            </a:r>
            <a:r>
              <a:rPr lang="sv-SE" dirty="0"/>
              <a:t> </a:t>
            </a:r>
            <a:r>
              <a:rPr lang="sv-SE" dirty="0" err="1"/>
              <a:t>error</a:t>
            </a:r>
            <a:r>
              <a:rPr lang="sv-SE" dirty="0"/>
              <a:t>” kan delas in i tre delar: </a:t>
            </a:r>
            <a:br>
              <a:rPr lang="sv-SE" dirty="0"/>
            </a:br>
            <a:endParaRPr lang="sv-SE" dirty="0"/>
          </a:p>
          <a:p>
            <a:pPr marL="514350" indent="-514350">
              <a:buFont typeface="+mj-lt"/>
              <a:buAutoNum type="arabicPeriod"/>
            </a:pPr>
            <a:r>
              <a:rPr lang="sv-SE" b="1" dirty="0"/>
              <a:t>Bias</a:t>
            </a:r>
            <a:r>
              <a:rPr lang="sv-SE" dirty="0"/>
              <a:t>: Uppstår p.g.a. felaktigt specificerad modell, t.ex. vi använder vanlig linjär regression när </a:t>
            </a:r>
            <a:r>
              <a:rPr lang="sv-SE" dirty="0" err="1"/>
              <a:t>datan</a:t>
            </a:r>
            <a:r>
              <a:rPr lang="sv-SE" dirty="0"/>
              <a:t> är kvadratisk (t.ex. polynomregression kan vara lämpligt). </a:t>
            </a:r>
          </a:p>
          <a:p>
            <a:pPr marL="514350" indent="-514350">
              <a:buFont typeface="+mj-lt"/>
              <a:buAutoNum type="arabicPeriod"/>
            </a:pPr>
            <a:r>
              <a:rPr lang="sv-SE" b="1" dirty="0"/>
              <a:t>Varians</a:t>
            </a:r>
            <a:r>
              <a:rPr lang="sv-SE" dirty="0"/>
              <a:t>: Uppstår till följd av modellens känslighet av </a:t>
            </a:r>
            <a:r>
              <a:rPr lang="sv-SE" dirty="0" err="1"/>
              <a:t>träningsdatan</a:t>
            </a:r>
            <a:r>
              <a:rPr lang="sv-SE" dirty="0"/>
              <a:t>. Mer komplexa / flexibla modeller har högre varians och det är förklaringen till att det inte alltid är bättre att öka komplexiteten. </a:t>
            </a:r>
          </a:p>
          <a:p>
            <a:pPr marL="514350" indent="-514350">
              <a:buFont typeface="+mj-lt"/>
              <a:buAutoNum type="arabicPeriod"/>
            </a:pPr>
            <a:r>
              <a:rPr lang="sv-SE" b="1" dirty="0"/>
              <a:t>Ej reducerbart fel</a:t>
            </a:r>
            <a:r>
              <a:rPr lang="sv-SE" dirty="0"/>
              <a:t>: </a:t>
            </a:r>
            <a:r>
              <a:rPr lang="sv-SE" dirty="0" err="1"/>
              <a:t>Datan</a:t>
            </a:r>
            <a:r>
              <a:rPr lang="sv-SE" dirty="0"/>
              <a:t> har ”</a:t>
            </a:r>
            <a:r>
              <a:rPr lang="sv-SE" dirty="0" err="1"/>
              <a:t>noise</a:t>
            </a:r>
            <a:r>
              <a:rPr lang="sv-SE" dirty="0"/>
              <a:t>” / brus som helt enkelt är slumpmässigt. </a:t>
            </a:r>
          </a:p>
          <a:p>
            <a:pPr marL="514350" indent="-514350">
              <a:buFont typeface="+mj-lt"/>
              <a:buAutoNum type="arabicPeriod"/>
            </a:pPr>
            <a:endParaRPr lang="sv-SE" dirty="0"/>
          </a:p>
          <a:p>
            <a:r>
              <a:rPr lang="sv-SE" dirty="0"/>
              <a:t>Generellt sett, ökad modell-komplexitet ökar variansen men minskar bias och vice versa. </a:t>
            </a:r>
            <a:r>
              <a:rPr lang="sv-SE" b="1" dirty="0"/>
              <a:t>Det är därför det inte alltid är bättre med en mer komplex modell </a:t>
            </a:r>
            <a:r>
              <a:rPr lang="sv-SE" dirty="0"/>
              <a:t>(t.ex. polynom regression istället för enkel linjär regression). Ökningen i varians kostar mer än vad minskningen i bias smakar. </a:t>
            </a:r>
          </a:p>
        </p:txBody>
      </p:sp>
    </p:spTree>
    <p:extLst>
      <p:ext uri="{BB962C8B-B14F-4D97-AF65-F5344CB8AC3E}">
        <p14:creationId xmlns:p14="http://schemas.microsoft.com/office/powerpoint/2010/main" val="888023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>
            <a:extLst>
              <a:ext uri="{FF2B5EF4-FFF2-40B4-BE49-F238E27FC236}">
                <a16:creationId xmlns:a16="http://schemas.microsoft.com/office/drawing/2014/main" id="{D8ED6658-9F27-15E4-D853-AA82261AB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656" y="193263"/>
            <a:ext cx="7024688" cy="3804473"/>
          </a:xfrm>
          <a:prstGeom prst="rect">
            <a:avLst/>
          </a:prstGeom>
        </p:spPr>
      </p:pic>
      <p:sp>
        <p:nvSpPr>
          <p:cNvPr id="12" name="textruta 11">
            <a:extLst>
              <a:ext uri="{FF2B5EF4-FFF2-40B4-BE49-F238E27FC236}">
                <a16:creationId xmlns:a16="http://schemas.microsoft.com/office/drawing/2014/main" id="{2AEA70F8-EE92-D549-48EB-2254BC785D44}"/>
              </a:ext>
            </a:extLst>
          </p:cNvPr>
          <p:cNvSpPr txBox="1"/>
          <p:nvPr/>
        </p:nvSpPr>
        <p:spPr>
          <a:xfrm>
            <a:off x="1004887" y="4305300"/>
            <a:ext cx="106822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Den gröna modellen är mer flexibel och vi ser att den ändras mycket beroende på hur </a:t>
            </a:r>
            <a:r>
              <a:rPr lang="sv-SE" sz="2000" dirty="0" err="1"/>
              <a:t>datan</a:t>
            </a:r>
            <a:r>
              <a:rPr lang="sv-SE" sz="2000" dirty="0"/>
              <a:t> ser ut </a:t>
            </a:r>
            <a:r>
              <a:rPr lang="sv-SE" sz="2000" dirty="0">
                <a:sym typeface="Wingdings" panose="05000000000000000000" pitchFamily="2" charset="2"/>
              </a:rPr>
              <a:t> Högre varians.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>
                <a:sym typeface="Wingdings" panose="05000000000000000000" pitchFamily="2" charset="2"/>
              </a:rPr>
              <a:t>Generellt sett så passar den gröna modellen </a:t>
            </a:r>
            <a:r>
              <a:rPr lang="sv-SE" sz="2000" dirty="0" err="1">
                <a:sym typeface="Wingdings" panose="05000000000000000000" pitchFamily="2" charset="2"/>
              </a:rPr>
              <a:t>datan</a:t>
            </a:r>
            <a:r>
              <a:rPr lang="sv-SE" sz="2000" dirty="0">
                <a:sym typeface="Wingdings" panose="05000000000000000000" pitchFamily="2" charset="2"/>
              </a:rPr>
              <a:t> bättre  Lägre bias.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sz="2000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>
                <a:sym typeface="Wingdings" panose="05000000000000000000" pitchFamily="2" charset="2"/>
              </a:rPr>
              <a:t>Men, modellens generaliseringsförmåga (att prediktera ny data som modellen inte har sett / tränats på) är inte nödvändigtvis bättre. Detta kan förklaras </a:t>
            </a:r>
            <a:r>
              <a:rPr lang="sv-SE" sz="2000" dirty="0" err="1">
                <a:sym typeface="Wingdings" panose="05000000000000000000" pitchFamily="2" charset="2"/>
              </a:rPr>
              <a:t>m.h.a</a:t>
            </a:r>
            <a:r>
              <a:rPr lang="sv-SE" sz="2000" dirty="0">
                <a:sym typeface="Wingdings" panose="05000000000000000000" pitchFamily="2" charset="2"/>
              </a:rPr>
              <a:t>. ”Bias-</a:t>
            </a:r>
            <a:r>
              <a:rPr lang="sv-SE" sz="2000" dirty="0" err="1">
                <a:sym typeface="Wingdings" panose="05000000000000000000" pitchFamily="2" charset="2"/>
              </a:rPr>
              <a:t>variance</a:t>
            </a:r>
            <a:r>
              <a:rPr lang="sv-SE" sz="2000" dirty="0">
                <a:sym typeface="Wingdings" panose="05000000000000000000" pitchFamily="2" charset="2"/>
              </a:rPr>
              <a:t> </a:t>
            </a:r>
            <a:r>
              <a:rPr lang="sv-SE" sz="2000" dirty="0" err="1">
                <a:sym typeface="Wingdings" panose="05000000000000000000" pitchFamily="2" charset="2"/>
              </a:rPr>
              <a:t>tradeoff</a:t>
            </a:r>
            <a:r>
              <a:rPr lang="sv-SE" sz="2000" dirty="0">
                <a:sym typeface="Wingdings" panose="05000000000000000000" pitchFamily="2" charset="2"/>
              </a:rPr>
              <a:t>”.</a:t>
            </a:r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4160425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875626A1-ED9F-F041-07DA-12DB11072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Regularisering</a:t>
            </a:r>
            <a:endParaRPr lang="en-US" sz="6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07324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7723E78-856E-749E-8CB5-5CFC5B6BE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Regularisering av linjär regression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38B4C6F-CAB8-0811-DA09-283DBF863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Att regularisera en modell innebär att man ”begränsar den”, d.v.s. flexibiliteten minskar. Detta leder till högre bias men lägre varians.</a:t>
            </a:r>
          </a:p>
          <a:p>
            <a:r>
              <a:rPr lang="sv-SE" dirty="0"/>
              <a:t> Kan vara användbart p.g.a. ”bias-</a:t>
            </a:r>
            <a:r>
              <a:rPr lang="sv-SE" dirty="0" err="1"/>
              <a:t>variance</a:t>
            </a:r>
            <a:r>
              <a:rPr lang="sv-SE" dirty="0"/>
              <a:t> </a:t>
            </a:r>
            <a:r>
              <a:rPr lang="sv-SE" dirty="0" err="1"/>
              <a:t>tradeoff</a:t>
            </a:r>
            <a:r>
              <a:rPr lang="sv-SE" dirty="0"/>
              <a:t>”. </a:t>
            </a:r>
          </a:p>
        </p:txBody>
      </p:sp>
    </p:spTree>
    <p:extLst>
      <p:ext uri="{BB962C8B-B14F-4D97-AF65-F5344CB8AC3E}">
        <p14:creationId xmlns:p14="http://schemas.microsoft.com/office/powerpoint/2010/main" val="3630220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5EA599B-2286-DCA5-CEE3-880CA0799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Ridge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FC834A7-34BF-EB2E-35E6-19F10CED5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sv-SE" dirty="0"/>
                  <a:t>Ridge Regression lägger ett extra straff i kostnadsfunktionen som vi försöker minimera. </a:t>
                </a:r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pPr marL="0" indent="0">
                  <a:buNone/>
                </a:pPr>
                <a:br>
                  <a:rPr lang="sv-SE" dirty="0"/>
                </a:br>
                <a:br>
                  <a:rPr lang="sv-SE" dirty="0"/>
                </a:br>
                <a:endParaRPr lang="sv-SE" dirty="0"/>
              </a:p>
              <a:p>
                <a:r>
                  <a:rPr lang="sv-SE" dirty="0"/>
                  <a:t>Våra beta kommer dras mot 0 såvida MSE inte minskar mer än vad extra straffet ökar. </a:t>
                </a:r>
              </a:p>
              <a:p>
                <a14:m>
                  <m:oMath xmlns:m="http://schemas.openxmlformats.org/officeDocument/2006/math">
                    <m:r>
                      <a:rPr lang="sv-SE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sv-SE" dirty="0"/>
                  <a:t> är en hyperparameter och kan väljas med hjälp av </a:t>
                </a:r>
                <a:r>
                  <a:rPr lang="sv-SE" b="1" dirty="0" err="1"/>
                  <a:t>GridSearchCV</a:t>
                </a:r>
                <a:r>
                  <a:rPr lang="sv-SE" b="1" dirty="0"/>
                  <a:t> </a:t>
                </a:r>
                <a:r>
                  <a:rPr lang="sv-SE" dirty="0"/>
                  <a:t>i Scikit-</a:t>
                </a:r>
                <a:r>
                  <a:rPr lang="sv-SE" dirty="0" err="1"/>
                  <a:t>learn</a:t>
                </a:r>
                <a:r>
                  <a:rPr lang="sv-SE" dirty="0"/>
                  <a:t>.</a:t>
                </a:r>
              </a:p>
              <a:p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4FC834A7-34BF-EB2E-35E6-19F10CED5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Bildobjekt 6">
            <a:extLst>
              <a:ext uri="{FF2B5EF4-FFF2-40B4-BE49-F238E27FC236}">
                <a16:creationId xmlns:a16="http://schemas.microsoft.com/office/drawing/2014/main" id="{367AFC63-169E-7A22-3AEC-E435BEBC5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641" y="2684855"/>
            <a:ext cx="8276718" cy="217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41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3C7F55-4DCA-2152-69B4-FEA74A143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Hyperparameter &amp; Parameter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2BBFD6F6-0100-C990-68B1-5EA5298781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b="1" dirty="0"/>
                  <a:t>Hyperparameter</a:t>
                </a:r>
                <a:r>
                  <a:rPr lang="sv-SE" dirty="0"/>
                  <a:t>: En parameter som används för att styra inlärningen. </a:t>
                </a:r>
              </a:p>
              <a:p>
                <a:r>
                  <a:rPr lang="sv-SE" dirty="0"/>
                  <a:t>Svarar på frågan ”Hur lär vi oss”.</a:t>
                </a:r>
              </a:p>
              <a:p>
                <a:endParaRPr lang="sv-SE" dirty="0"/>
              </a:p>
              <a:p>
                <a:r>
                  <a:rPr lang="sv-SE" dirty="0"/>
                  <a:t>Exempel: </a:t>
                </a:r>
                <a14:m>
                  <m:oMath xmlns:m="http://schemas.openxmlformats.org/officeDocument/2006/math">
                    <m:r>
                      <a:rPr lang="sv-SE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sv-SE" dirty="0"/>
                  <a:t> i Ridge Regression.</a:t>
                </a:r>
              </a:p>
              <a:p>
                <a:pPr marL="0" indent="0">
                  <a:buNone/>
                </a:pPr>
                <a:endParaRPr lang="sv-SE" dirty="0"/>
              </a:p>
              <a:p>
                <a:r>
                  <a:rPr lang="sv-SE" dirty="0"/>
                  <a:t>Hur välja hyperparametrar? Generellt sätt </a:t>
                </a:r>
                <a:r>
                  <a:rPr lang="sv-SE" dirty="0" err="1"/>
                  <a:t>m.h.a</a:t>
                </a:r>
                <a:r>
                  <a:rPr lang="sv-SE" dirty="0"/>
                  <a:t>. </a:t>
                </a:r>
                <a:r>
                  <a:rPr lang="sv-SE" b="1" dirty="0" err="1"/>
                  <a:t>GridSearchCV</a:t>
                </a:r>
                <a:r>
                  <a:rPr lang="sv-SE" b="1" dirty="0"/>
                  <a:t> </a:t>
                </a:r>
                <a:r>
                  <a:rPr lang="sv-SE" dirty="0"/>
                  <a:t>i Scikit-</a:t>
                </a:r>
                <a:r>
                  <a:rPr lang="sv-SE" dirty="0" err="1"/>
                  <a:t>learn</a:t>
                </a:r>
                <a:r>
                  <a:rPr lang="sv-SE" dirty="0"/>
                  <a:t>. </a:t>
                </a:r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2BBFD6F6-0100-C990-68B1-5EA5298781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3081" r="-23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tshållare för innehåll 3">
                <a:extLst>
                  <a:ext uri="{FF2B5EF4-FFF2-40B4-BE49-F238E27FC236}">
                    <a16:creationId xmlns:a16="http://schemas.microsoft.com/office/drawing/2014/main" id="{F326F350-0A6A-9349-C069-C7F95B6C1AB6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sv-SE" b="1" dirty="0"/>
                  <a:t>Parameter</a:t>
                </a:r>
                <a:r>
                  <a:rPr lang="sv-SE" dirty="0"/>
                  <a:t>: En parameter som lärs från träningen. </a:t>
                </a:r>
              </a:p>
              <a:p>
                <a:r>
                  <a:rPr lang="sv-SE" dirty="0"/>
                  <a:t>Svarar på frågan ”Vad har vi lärt oss”. </a:t>
                </a:r>
              </a:p>
              <a:p>
                <a:endParaRPr lang="sv-SE" dirty="0"/>
              </a:p>
              <a:p>
                <a:r>
                  <a:rPr lang="sv-SE" dirty="0"/>
                  <a:t>Exempel: </a:t>
                </a:r>
                <a14:m>
                  <m:oMath xmlns:m="http://schemas.openxmlformats.org/officeDocument/2006/math">
                    <m:r>
                      <a:rPr lang="sv-SE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sv-SE" dirty="0"/>
                  <a:t> i Enkel Linjär Regression. </a:t>
                </a: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4" name="Platshållare för innehåll 3">
                <a:extLst>
                  <a:ext uri="{FF2B5EF4-FFF2-40B4-BE49-F238E27FC236}">
                    <a16:creationId xmlns:a16="http://schemas.microsoft.com/office/drawing/2014/main" id="{F326F350-0A6A-9349-C069-C7F95B6C1A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308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274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B716853E-2FF6-5174-A277-3B0814867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249704"/>
            <a:ext cx="8874178" cy="4976073"/>
          </a:xfrm>
          <a:prstGeom prst="rect">
            <a:avLst/>
          </a:pr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9960F0F8-5917-F3C2-4733-7B3BA28D38C9}"/>
              </a:ext>
            </a:extLst>
          </p:cNvPr>
          <p:cNvSpPr txBox="1"/>
          <p:nvPr/>
        </p:nvSpPr>
        <p:spPr>
          <a:xfrm>
            <a:off x="1657350" y="5961965"/>
            <a:ext cx="9039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Bild tagen från (s.136) i andra upplagan av Hands on </a:t>
            </a:r>
            <a:r>
              <a:rPr lang="sv-SE" dirty="0" err="1"/>
              <a:t>machine</a:t>
            </a:r>
            <a:r>
              <a:rPr lang="sv-SE" dirty="0"/>
              <a:t> Learning </a:t>
            </a:r>
            <a:r>
              <a:rPr lang="sv-SE" dirty="0" err="1"/>
              <a:t>with</a:t>
            </a:r>
            <a:r>
              <a:rPr lang="sv-SE" dirty="0"/>
              <a:t> Scikit-</a:t>
            </a:r>
            <a:r>
              <a:rPr lang="sv-SE" dirty="0" err="1"/>
              <a:t>Learn</a:t>
            </a:r>
            <a:r>
              <a:rPr lang="sv-SE" dirty="0"/>
              <a:t> </a:t>
            </a:r>
            <a:r>
              <a:rPr lang="sv-SE" dirty="0" err="1"/>
              <a:t>Keras</a:t>
            </a:r>
            <a:r>
              <a:rPr lang="sv-SE" dirty="0"/>
              <a:t> &amp; </a:t>
            </a:r>
            <a:r>
              <a:rPr lang="sv-SE" dirty="0" err="1"/>
              <a:t>Tensorflow</a:t>
            </a:r>
            <a:r>
              <a:rPr lang="sv-SE" dirty="0"/>
              <a:t>, </a:t>
            </a:r>
            <a:r>
              <a:rPr lang="sv-SE" dirty="0" err="1"/>
              <a:t>Aurélien</a:t>
            </a:r>
            <a:r>
              <a:rPr lang="sv-SE" dirty="0"/>
              <a:t> </a:t>
            </a:r>
            <a:r>
              <a:rPr lang="sv-SE" dirty="0" err="1"/>
              <a:t>Géron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6048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5CC1EDD-68C2-826A-B304-45FA09BB3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Lasso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latshållare för innehåll 6">
                <a:extLst>
                  <a:ext uri="{FF2B5EF4-FFF2-40B4-BE49-F238E27FC236}">
                    <a16:creationId xmlns:a16="http://schemas.microsoft.com/office/drawing/2014/main" id="{77ADD862-FD00-6794-00F0-EF275CAF87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pPr marL="0" indent="0">
                  <a:buNone/>
                </a:pPr>
                <a:br>
                  <a:rPr lang="sv-SE" dirty="0"/>
                </a:br>
                <a:br>
                  <a:rPr lang="sv-SE" dirty="0"/>
                </a:br>
                <a:endParaRPr lang="sv-SE" dirty="0"/>
              </a:p>
              <a:p>
                <a:r>
                  <a:rPr lang="sv-SE" dirty="0"/>
                  <a:t>Man kan matematiskt visa att LASSO tenderar att sätta ”oviktiga” parametrar till 0 vilket gör den populär då man automatiskt får fram vilka variabler som skall användas i en regressions modell. </a:t>
                </a:r>
              </a:p>
              <a:p>
                <a14:m>
                  <m:oMath xmlns:m="http://schemas.openxmlformats.org/officeDocument/2006/math">
                    <m:r>
                      <a:rPr lang="sv-SE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sv-SE" dirty="0"/>
                  <a:t> är en hyperparameter och kan väljas med hjälp av </a:t>
                </a:r>
                <a:r>
                  <a:rPr lang="sv-SE" b="1" dirty="0" err="1"/>
                  <a:t>GridSearchCV</a:t>
                </a:r>
                <a:r>
                  <a:rPr lang="sv-SE" b="1" dirty="0"/>
                  <a:t> </a:t>
                </a:r>
                <a:r>
                  <a:rPr lang="sv-SE" dirty="0"/>
                  <a:t>i Scikit-</a:t>
                </a:r>
                <a:r>
                  <a:rPr lang="sv-SE" dirty="0" err="1"/>
                  <a:t>learn</a:t>
                </a:r>
                <a:r>
                  <a:rPr lang="sv-SE" dirty="0"/>
                  <a:t>.</a:t>
                </a:r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7" name="Platshållare för innehåll 6">
                <a:extLst>
                  <a:ext uri="{FF2B5EF4-FFF2-40B4-BE49-F238E27FC236}">
                    <a16:creationId xmlns:a16="http://schemas.microsoft.com/office/drawing/2014/main" id="{77ADD862-FD00-6794-00F0-EF275CAF87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r="-110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Bildobjekt 8">
            <a:extLst>
              <a:ext uri="{FF2B5EF4-FFF2-40B4-BE49-F238E27FC236}">
                <a16:creationId xmlns:a16="http://schemas.microsoft.com/office/drawing/2014/main" id="{512996C7-B985-3F1C-6C0D-ED450A354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838" y="1690688"/>
            <a:ext cx="7942324" cy="267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007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E5AA4C23-0835-8883-AD21-03D895F4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525" y="257176"/>
            <a:ext cx="8672949" cy="4881562"/>
          </a:xfrm>
          <a:prstGeom prst="rect">
            <a:avLst/>
          </a:pr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C4C7083F-F58B-1EA3-D54B-615F47E00AA0}"/>
              </a:ext>
            </a:extLst>
          </p:cNvPr>
          <p:cNvSpPr txBox="1"/>
          <p:nvPr/>
        </p:nvSpPr>
        <p:spPr>
          <a:xfrm>
            <a:off x="1085850" y="5919227"/>
            <a:ext cx="1013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Bild tagen från (s.138) i andra upplagan av Hands on </a:t>
            </a:r>
            <a:r>
              <a:rPr lang="sv-SE" dirty="0" err="1"/>
              <a:t>machine</a:t>
            </a:r>
            <a:r>
              <a:rPr lang="sv-SE" dirty="0"/>
              <a:t> Learning </a:t>
            </a:r>
            <a:r>
              <a:rPr lang="sv-SE" dirty="0" err="1"/>
              <a:t>with</a:t>
            </a:r>
            <a:r>
              <a:rPr lang="sv-SE" dirty="0"/>
              <a:t> Scikit-</a:t>
            </a:r>
            <a:r>
              <a:rPr lang="sv-SE" dirty="0" err="1"/>
              <a:t>Learn</a:t>
            </a:r>
            <a:r>
              <a:rPr lang="sv-SE" dirty="0"/>
              <a:t> </a:t>
            </a:r>
            <a:r>
              <a:rPr lang="sv-SE" dirty="0" err="1"/>
              <a:t>Keras</a:t>
            </a:r>
            <a:r>
              <a:rPr lang="sv-SE" dirty="0"/>
              <a:t> &amp; </a:t>
            </a:r>
            <a:r>
              <a:rPr lang="sv-SE" dirty="0" err="1"/>
              <a:t>Tensorflow</a:t>
            </a:r>
            <a:r>
              <a:rPr lang="sv-SE" dirty="0"/>
              <a:t>, </a:t>
            </a:r>
            <a:r>
              <a:rPr lang="sv-SE" dirty="0" err="1"/>
              <a:t>Aurélien</a:t>
            </a:r>
            <a:r>
              <a:rPr lang="sv-SE" dirty="0"/>
              <a:t> </a:t>
            </a:r>
            <a:r>
              <a:rPr lang="sv-SE" dirty="0" err="1"/>
              <a:t>Géron</a:t>
            </a:r>
            <a:r>
              <a:rPr lang="sv-SE" dirty="0"/>
              <a:t>.</a:t>
            </a: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037275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5EE80C9-ACFF-6E18-8D15-FE9D2E57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Elastic</a:t>
            </a:r>
            <a:r>
              <a:rPr lang="sv-SE" dirty="0"/>
              <a:t> Net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0234F3B-8FE1-EAEC-7C82-A73428DBBC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sv-SE" dirty="0" err="1"/>
                  <a:t>Elastic</a:t>
                </a:r>
                <a:r>
                  <a:rPr lang="sv-SE" dirty="0"/>
                  <a:t> Net är en blandning av Ridge &amp; Lasso. </a:t>
                </a:r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  <a:p>
                <a14:m>
                  <m:oMath xmlns:m="http://schemas.openxmlformats.org/officeDocument/2006/math">
                    <m:r>
                      <a:rPr lang="sv-SE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sv-SE" dirty="0"/>
                  <a:t> och </a:t>
                </a:r>
                <a14:m>
                  <m:oMath xmlns:m="http://schemas.openxmlformats.org/officeDocument/2006/math">
                    <m:r>
                      <a:rPr lang="sv-SE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sv-SE" dirty="0"/>
                  <a:t> är hyperparametrar och kan väljas med hjälp av </a:t>
                </a:r>
                <a:r>
                  <a:rPr lang="sv-SE" b="1" dirty="0" err="1"/>
                  <a:t>GridSearchCV</a:t>
                </a:r>
                <a:r>
                  <a:rPr lang="sv-SE" b="1" dirty="0"/>
                  <a:t> </a:t>
                </a:r>
                <a:r>
                  <a:rPr lang="sv-SE" dirty="0"/>
                  <a:t>i Scikit-</a:t>
                </a:r>
                <a:r>
                  <a:rPr lang="sv-SE" dirty="0" err="1"/>
                  <a:t>learn</a:t>
                </a:r>
                <a:r>
                  <a:rPr lang="sv-SE" dirty="0"/>
                  <a:t>.</a:t>
                </a:r>
              </a:p>
              <a:p>
                <a:endParaRPr lang="sv-SE" dirty="0"/>
              </a:p>
              <a:p>
                <a:endParaRPr lang="sv-SE" dirty="0"/>
              </a:p>
              <a:p>
                <a:endParaRPr lang="sv-SE" dirty="0"/>
              </a:p>
            </p:txBody>
          </p:sp>
        </mc:Choice>
        <mc:Fallback xmlns="">
          <p:sp>
            <p:nvSpPr>
              <p:cNvPr id="3" name="Platshållare för innehåll 2">
                <a:extLst>
                  <a:ext uri="{FF2B5EF4-FFF2-40B4-BE49-F238E27FC236}">
                    <a16:creationId xmlns:a16="http://schemas.microsoft.com/office/drawing/2014/main" id="{00234F3B-8FE1-EAEC-7C82-A73428DBB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241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Bildobjekt 4">
            <a:extLst>
              <a:ext uri="{FF2B5EF4-FFF2-40B4-BE49-F238E27FC236}">
                <a16:creationId xmlns:a16="http://schemas.microsoft.com/office/drawing/2014/main" id="{956007ED-036B-8D1B-56A7-BC893701D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37" y="2495549"/>
            <a:ext cx="9252672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562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C900F-622F-1F95-3645-FBF0EA87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7A6781-DEAE-1ED2-6DF0-0D9A072AB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115B60E-A304-C8C8-7246-D7AB389BC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C5F0847E-DB6E-0E0D-A353-7FA17A738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52281978-958A-DEBD-CAC5-4D6FF55C4C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88B2720-0B9F-3C6D-E02F-346E08309D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3E0F6BC7-2C84-B7E4-4F27-65D5CE2395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B9FD95F9-F548-AA07-1BAD-F01DBAB4A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578968DA-6249-79DA-0A43-E037AE16EA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EB13E176-74C2-2D23-DCBB-5FB726EA7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Beslutsträd</a:t>
            </a:r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&amp; </a:t>
            </a:r>
            <a:r>
              <a:rPr lang="en-US" sz="61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Randomforest</a:t>
            </a:r>
            <a:endParaRPr lang="en-US" sz="61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6305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540D1631-EECB-3949-A236-05E981DB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81" y="0"/>
            <a:ext cx="3932237" cy="1600200"/>
          </a:xfrm>
        </p:spPr>
        <p:txBody>
          <a:bodyPr/>
          <a:lstStyle/>
          <a:p>
            <a:r>
              <a:rPr lang="sv-SE" dirty="0"/>
              <a:t>Regression</a:t>
            </a:r>
          </a:p>
        </p:txBody>
      </p:sp>
      <p:pic>
        <p:nvPicPr>
          <p:cNvPr id="8" name="Platshållare för innehåll 7">
            <a:extLst>
              <a:ext uri="{FF2B5EF4-FFF2-40B4-BE49-F238E27FC236}">
                <a16:creationId xmlns:a16="http://schemas.microsoft.com/office/drawing/2014/main" id="{4DC91479-1989-935D-01EA-7A2C9CE33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0684" y="1507787"/>
            <a:ext cx="6981316" cy="3635131"/>
          </a:xfrm>
        </p:spPr>
      </p:pic>
      <p:sp>
        <p:nvSpPr>
          <p:cNvPr id="6" name="Platshållare för text 5">
            <a:extLst>
              <a:ext uri="{FF2B5EF4-FFF2-40B4-BE49-F238E27FC236}">
                <a16:creationId xmlns:a16="http://schemas.microsoft.com/office/drawing/2014/main" id="{1809757B-35D4-0B09-E079-A15BFCC2E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681" y="1775297"/>
            <a:ext cx="4957898" cy="4664414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Exempel: Antag x1 = 0.6.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Då går vi höger, vänster.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Vårt predikterade värde blir 0.111.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I den löv-noden finns det 110 observationer.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MSE = 0.015 i den löv-noden.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För regressionsproblem så vill optimeringsalgoritmen minimera MSE.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Kombination av många träd (där medelvärdet av trädens prediktioner används) benämns </a:t>
            </a:r>
            <a:r>
              <a:rPr lang="sv-SE" sz="2000" dirty="0" err="1"/>
              <a:t>random</a:t>
            </a:r>
            <a:r>
              <a:rPr lang="sv-SE" sz="2000" dirty="0"/>
              <a:t> </a:t>
            </a:r>
            <a:r>
              <a:rPr lang="sv-SE" sz="2000" dirty="0" err="1"/>
              <a:t>forest</a:t>
            </a:r>
            <a:r>
              <a:rPr lang="sv-SE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Regularisering används också här för att inte ”</a:t>
            </a:r>
            <a:r>
              <a:rPr lang="sv-SE" sz="2000" dirty="0" err="1"/>
              <a:t>overfitta</a:t>
            </a:r>
            <a:r>
              <a:rPr lang="sv-SE" sz="2000" dirty="0"/>
              <a:t> </a:t>
            </a:r>
            <a:r>
              <a:rPr lang="sv-SE" sz="2000" dirty="0" err="1"/>
              <a:t>datan</a:t>
            </a:r>
            <a:r>
              <a:rPr lang="sv-SE" sz="2000" dirty="0"/>
              <a:t>”. Se Scikit-</a:t>
            </a:r>
            <a:r>
              <a:rPr lang="sv-SE" sz="2000" dirty="0" err="1"/>
              <a:t>learn</a:t>
            </a:r>
            <a:r>
              <a:rPr lang="sv-SE" sz="2000" dirty="0"/>
              <a:t> dokumentation för implementation.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2834000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5E71251-8379-8BE5-F8DB-7755B6F4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Regularisering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8179C3A-7CEF-AB60-4BF4-26932F23D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5016" cy="4351338"/>
          </a:xfrm>
        </p:spPr>
        <p:txBody>
          <a:bodyPr>
            <a:normAutofit lnSpcReduction="10000"/>
          </a:bodyPr>
          <a:lstStyle/>
          <a:p>
            <a:r>
              <a:rPr lang="sv-SE" dirty="0"/>
              <a:t>Beslutsträd är en flexibel modell och kan därför ”</a:t>
            </a:r>
            <a:r>
              <a:rPr lang="sv-SE" dirty="0" err="1"/>
              <a:t>overfitta</a:t>
            </a:r>
            <a:r>
              <a:rPr lang="sv-SE" dirty="0"/>
              <a:t>” </a:t>
            </a:r>
            <a:r>
              <a:rPr lang="sv-SE" dirty="0" err="1"/>
              <a:t>träningsdatan</a:t>
            </a:r>
            <a:r>
              <a:rPr lang="sv-SE" dirty="0"/>
              <a:t>, d.v.s. att modellens generaliseringsförmåga till ny data som den inte blivit tränad på är låg. </a:t>
            </a:r>
          </a:p>
          <a:p>
            <a:r>
              <a:rPr lang="sv-SE" dirty="0"/>
              <a:t>Lösning: Regularisering. </a:t>
            </a:r>
          </a:p>
          <a:p>
            <a:endParaRPr lang="sv-SE" dirty="0"/>
          </a:p>
          <a:p>
            <a:r>
              <a:rPr lang="sv-SE" dirty="0"/>
              <a:t>I Scikit-</a:t>
            </a:r>
            <a:r>
              <a:rPr lang="sv-SE" dirty="0" err="1"/>
              <a:t>learn</a:t>
            </a:r>
            <a:r>
              <a:rPr lang="sv-SE" dirty="0"/>
              <a:t> kan man t.ex. genom </a:t>
            </a:r>
            <a:r>
              <a:rPr lang="sv-SE" dirty="0" err="1"/>
              <a:t>GridSearch</a:t>
            </a:r>
            <a:r>
              <a:rPr lang="sv-SE" dirty="0"/>
              <a:t> justera hyperparametrar såsom: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v-SE" i="0" dirty="0" err="1">
                <a:solidFill>
                  <a:srgbClr val="212529"/>
                </a:solidFill>
                <a:effectLst/>
                <a:latin typeface="-apple-system"/>
              </a:rPr>
              <a:t>max_depth</a:t>
            </a:r>
            <a:endParaRPr lang="sv-SE" i="1" dirty="0">
              <a:solidFill>
                <a:srgbClr val="212529"/>
              </a:solidFill>
              <a:effectLst/>
              <a:latin typeface="-apple-system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sv-SE" i="0" dirty="0" err="1">
                <a:solidFill>
                  <a:srgbClr val="212529"/>
                </a:solidFill>
                <a:effectLst/>
                <a:latin typeface="-apple-system"/>
              </a:rPr>
              <a:t>min_samples_split</a:t>
            </a:r>
            <a:r>
              <a:rPr lang="sv-SE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v-SE" i="0" dirty="0" err="1">
                <a:solidFill>
                  <a:srgbClr val="212529"/>
                </a:solidFill>
                <a:effectLst/>
                <a:latin typeface="-apple-system"/>
              </a:rPr>
              <a:t>min_samples_leaf</a:t>
            </a:r>
            <a:endParaRPr lang="sv-SE" dirty="0">
              <a:solidFill>
                <a:srgbClr val="212529"/>
              </a:solidFill>
              <a:effectLst/>
              <a:latin typeface="-apple-system"/>
            </a:endParaRPr>
          </a:p>
          <a:p>
            <a:endParaRPr lang="sv-SE" i="0" dirty="0">
              <a:solidFill>
                <a:srgbClr val="212529"/>
              </a:solidFill>
              <a:effectLst/>
              <a:latin typeface="-apple-system"/>
            </a:endParaRPr>
          </a:p>
          <a:p>
            <a:pPr>
              <a:buFont typeface="Wingdings" panose="05000000000000000000" pitchFamily="2" charset="2"/>
              <a:buChar char="Ø"/>
            </a:pPr>
            <a:endParaRPr lang="sv-SE" b="1" dirty="0">
              <a:solidFill>
                <a:srgbClr val="212529"/>
              </a:solidFill>
              <a:latin typeface="-apple-system"/>
            </a:endParaRPr>
          </a:p>
          <a:p>
            <a:pPr>
              <a:buFont typeface="Wingdings" panose="05000000000000000000" pitchFamily="2" charset="2"/>
              <a:buChar char="Ø"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9085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488A9-4ECE-73E7-70D1-9710D9652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864B0A-E0FA-FAE7-F2C8-C8CDA40E2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083D7-94AC-DA77-7F2B-7CC561E7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6" name="Group 9">
              <a:extLst>
                <a:ext uri="{FF2B5EF4-FFF2-40B4-BE49-F238E27FC236}">
                  <a16:creationId xmlns:a16="http://schemas.microsoft.com/office/drawing/2014/main" id="{B1307D8D-42EB-5E4B-72FF-68F3F9001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94C965C-4C11-CD27-4A24-9BA0D4740A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92B4E298-49B2-C882-C99D-5090FF6029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0">
              <a:extLst>
                <a:ext uri="{FF2B5EF4-FFF2-40B4-BE49-F238E27FC236}">
                  <a16:creationId xmlns:a16="http://schemas.microsoft.com/office/drawing/2014/main" id="{B23D9E7A-2AFA-D49F-FE22-531A821C8F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8" name="Freeform: Shape 11">
                <a:extLst>
                  <a:ext uri="{FF2B5EF4-FFF2-40B4-BE49-F238E27FC236}">
                    <a16:creationId xmlns:a16="http://schemas.microsoft.com/office/drawing/2014/main" id="{6553B658-F0CE-279A-5194-30DE4B1DF1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3C8C0ECE-60E2-A3FB-3787-6C2BCBC53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31E62C5B-5DFC-FDC0-FC22-6E49FFDD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SVM Regression</a:t>
            </a:r>
          </a:p>
        </p:txBody>
      </p:sp>
    </p:spTree>
    <p:extLst>
      <p:ext uri="{BB962C8B-B14F-4D97-AF65-F5344CB8AC3E}">
        <p14:creationId xmlns:p14="http://schemas.microsoft.com/office/powerpoint/2010/main" val="11791271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C005F1E-A031-EC9B-4F11-3B559BF96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0"/>
            <a:ext cx="3932237" cy="1600200"/>
          </a:xfrm>
        </p:spPr>
        <p:txBody>
          <a:bodyPr/>
          <a:lstStyle/>
          <a:p>
            <a:r>
              <a:rPr lang="en-US" sz="3200" kern="1200" dirty="0">
                <a:latin typeface="+mj-lt"/>
                <a:ea typeface="+mj-ea"/>
                <a:cs typeface="+mj-cs"/>
              </a:rPr>
              <a:t>SVM Regression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Platshållare för text 3">
                <a:extLst>
                  <a:ext uri="{FF2B5EF4-FFF2-40B4-BE49-F238E27FC236}">
                    <a16:creationId xmlns:a16="http://schemas.microsoft.com/office/drawing/2014/main" id="{FD09B5F5-82EA-73A7-A329-BF08AE506185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534988" y="1803400"/>
                <a:ext cx="5185092" cy="4404360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sv-SE" sz="2000" dirty="0"/>
                  <a:t>Nu försöker man skapa en ”väg” som innehåller så många observationer som möjligt och begränsa ”</a:t>
                </a:r>
                <a:r>
                  <a:rPr lang="sv-SE" sz="2000" dirty="0" err="1"/>
                  <a:t>margin</a:t>
                </a:r>
                <a:r>
                  <a:rPr lang="sv-SE" sz="2000" dirty="0"/>
                  <a:t> </a:t>
                </a:r>
                <a:r>
                  <a:rPr lang="sv-SE" sz="2000" dirty="0" err="1"/>
                  <a:t>violations</a:t>
                </a:r>
                <a:r>
                  <a:rPr lang="sv-SE" sz="2000" dirty="0"/>
                  <a:t>” som i detta fallet är observationer utanför vägen (vid klassificering ville vi tvärtom ha så få observationer innanför vägen som möjligt).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sv-SE" sz="2000" dirty="0"/>
                  <a:t>En hyperparameter </a:t>
                </a:r>
                <a14:m>
                  <m:oMath xmlns:m="http://schemas.openxmlformats.org/officeDocument/2006/math">
                    <m:r>
                      <a:rPr lang="sv-SE" sz="20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sv-SE" sz="2000" dirty="0"/>
                  <a:t> kontrollerar hur bred väg vi använder.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sv-SE" sz="2000" dirty="0">
                  <a:sym typeface="Wingdings" panose="05000000000000000000" pitchFamily="2" charset="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sv-SE" sz="20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sv-SE" sz="2000" dirty="0">
                    <a:sym typeface="Wingdings" panose="05000000000000000000" pitchFamily="2" charset="2"/>
                  </a:rPr>
                  <a:t> väljs med </a:t>
                </a:r>
                <a:r>
                  <a:rPr lang="sv-SE" sz="2000" dirty="0" err="1">
                    <a:sym typeface="Wingdings" panose="05000000000000000000" pitchFamily="2" charset="2"/>
                  </a:rPr>
                  <a:t>GridSearch</a:t>
                </a:r>
                <a:r>
                  <a:rPr lang="sv-SE" sz="2000" dirty="0">
                    <a:sym typeface="Wingdings" panose="05000000000000000000" pitchFamily="2" charset="2"/>
                  </a:rPr>
                  <a:t> i Scikit-</a:t>
                </a:r>
                <a:r>
                  <a:rPr lang="sv-SE" sz="2000" dirty="0" err="1">
                    <a:sym typeface="Wingdings" panose="05000000000000000000" pitchFamily="2" charset="2"/>
                  </a:rPr>
                  <a:t>learn</a:t>
                </a:r>
                <a:r>
                  <a:rPr lang="sv-SE" sz="2000" dirty="0">
                    <a:sym typeface="Wingdings" panose="05000000000000000000" pitchFamily="2" charset="2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sv-SE" sz="2000" dirty="0">
                  <a:sym typeface="Wingdings" panose="05000000000000000000" pitchFamily="2" charset="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sv-SE" sz="2000" dirty="0"/>
              </a:p>
              <a:p>
                <a:endParaRPr lang="sv-SE" sz="2000" dirty="0"/>
              </a:p>
            </p:txBody>
          </p:sp>
        </mc:Choice>
        <mc:Fallback xmlns="">
          <p:sp>
            <p:nvSpPr>
              <p:cNvPr id="4" name="Platshållare för text 3">
                <a:extLst>
                  <a:ext uri="{FF2B5EF4-FFF2-40B4-BE49-F238E27FC236}">
                    <a16:creationId xmlns:a16="http://schemas.microsoft.com/office/drawing/2014/main" id="{FD09B5F5-82EA-73A7-A329-BF08AE506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534988" y="1803400"/>
                <a:ext cx="5185092" cy="4404360"/>
              </a:xfrm>
              <a:blipFill>
                <a:blip r:embed="rId2"/>
                <a:stretch>
                  <a:fillRect l="-1059" t="-1524" r="-1647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6E047EB1-E2F4-FD2F-F7E7-A7A65080C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92800" y="1600200"/>
            <a:ext cx="6195060" cy="275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547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E9FD510-7DAD-810F-4C86-11E3052F1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3"/>
            <a:ext cx="10515600" cy="1325563"/>
          </a:xfrm>
        </p:spPr>
        <p:txBody>
          <a:bodyPr/>
          <a:lstStyle/>
          <a:p>
            <a:r>
              <a:rPr lang="en-US" sz="4400" kern="1200" dirty="0">
                <a:latin typeface="+mj-lt"/>
                <a:ea typeface="+mj-ea"/>
                <a:cs typeface="+mj-cs"/>
              </a:rPr>
              <a:t>SVM Regression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971AD85-1DC4-951F-A3C2-AFA92532D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443"/>
            <a:ext cx="10515600" cy="4351338"/>
          </a:xfrm>
        </p:spPr>
        <p:txBody>
          <a:bodyPr/>
          <a:lstStyle/>
          <a:p>
            <a:r>
              <a:rPr lang="sv-SE" dirty="0"/>
              <a:t>”</a:t>
            </a:r>
            <a:r>
              <a:rPr lang="sv-SE" dirty="0" err="1"/>
              <a:t>Kernel</a:t>
            </a:r>
            <a:r>
              <a:rPr lang="sv-SE" dirty="0"/>
              <a:t> tricket” funkar också för regressionsproblem för att t.ex. fånga icke-linjärt mönster. </a:t>
            </a:r>
            <a:br>
              <a:rPr lang="sv-SE" dirty="0"/>
            </a:br>
            <a:r>
              <a:rPr lang="sv-SE" dirty="0"/>
              <a:t>Mer om detta i kapitlet om</a:t>
            </a:r>
            <a:br>
              <a:rPr lang="sv-SE" dirty="0"/>
            </a:br>
            <a:r>
              <a:rPr lang="sv-SE" dirty="0"/>
              <a:t>klassificering.  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A4DBE467-F5CB-1FA9-2CFF-B72963BFB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920" y="1750092"/>
            <a:ext cx="6461760" cy="2866900"/>
          </a:xfrm>
          <a:prstGeom prst="rect">
            <a:avLst/>
          </a:prstGeom>
        </p:spPr>
      </p:pic>
      <p:sp>
        <p:nvSpPr>
          <p:cNvPr id="6" name="textruta 5">
            <a:extLst>
              <a:ext uri="{FF2B5EF4-FFF2-40B4-BE49-F238E27FC236}">
                <a16:creationId xmlns:a16="http://schemas.microsoft.com/office/drawing/2014/main" id="{FB39B213-CEE1-E98C-DF44-5464D1C3698D}"/>
              </a:ext>
            </a:extLst>
          </p:cNvPr>
          <p:cNvSpPr txBox="1"/>
          <p:nvPr/>
        </p:nvSpPr>
        <p:spPr>
          <a:xfrm>
            <a:off x="703557" y="2712744"/>
            <a:ext cx="8168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800" dirty="0">
                <a:solidFill>
                  <a:srgbClr val="008000"/>
                </a:solidFill>
                <a:highlight>
                  <a:srgbClr val="FFFFFF"/>
                </a:highlight>
              </a:rPr>
              <a:t>######### Imports</a:t>
            </a:r>
            <a:endParaRPr lang="sv-SE" sz="18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sv-SE" sz="1800" b="1" dirty="0">
                <a:solidFill>
                  <a:srgbClr val="0000FF"/>
                </a:solidFill>
                <a:highlight>
                  <a:srgbClr val="FFFFFF"/>
                </a:highlight>
              </a:rPr>
              <a:t>import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numpy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1" dirty="0">
                <a:solidFill>
                  <a:srgbClr val="0000FF"/>
                </a:solidFill>
                <a:highlight>
                  <a:srgbClr val="FFFFFF"/>
                </a:highlight>
              </a:rPr>
              <a:t>as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endParaRPr lang="sv-SE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</a:rPr>
              <a:t>from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sklearn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svm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1" dirty="0">
                <a:solidFill>
                  <a:srgbClr val="0000FF"/>
                </a:solidFill>
                <a:highlight>
                  <a:srgbClr val="FFFFFF"/>
                </a:highlight>
              </a:rPr>
              <a:t>import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SVR</a:t>
            </a:r>
          </a:p>
          <a:p>
            <a:endParaRPr lang="sv-SE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sv-SE" sz="1800" b="0" dirty="0">
                <a:solidFill>
                  <a:srgbClr val="008000"/>
                </a:solidFill>
                <a:highlight>
                  <a:srgbClr val="FFFFFF"/>
                </a:highlight>
              </a:rPr>
              <a:t>######### </a:t>
            </a:r>
            <a:r>
              <a:rPr lang="sv-SE" sz="1800" b="0" dirty="0" err="1">
                <a:solidFill>
                  <a:srgbClr val="008000"/>
                </a:solidFill>
                <a:highlight>
                  <a:srgbClr val="FFFFFF"/>
                </a:highlight>
              </a:rPr>
              <a:t>Modelling</a:t>
            </a:r>
            <a:endParaRPr lang="sv-SE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sv-SE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random</a:t>
            </a:r>
            <a:r>
              <a:rPr lang="sv-SE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seed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sv-SE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42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sv-SE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m 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100</a:t>
            </a:r>
            <a:endParaRPr lang="sv-SE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2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sv-SE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random</a:t>
            </a:r>
            <a:r>
              <a:rPr lang="sv-SE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rand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m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endParaRPr lang="sv-SE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0.2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0.1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X 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0.5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X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**</a:t>
            </a:r>
            <a:r>
              <a:rPr lang="es-E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2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+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random</a:t>
            </a:r>
            <a:r>
              <a:rPr lang="es-ES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randn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m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)/</a:t>
            </a:r>
            <a:r>
              <a:rPr lang="es-E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10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).</a:t>
            </a:r>
            <a:r>
              <a:rPr lang="es-E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ravel</a:t>
            </a:r>
            <a:r>
              <a:rPr lang="es-E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  <a:endParaRPr lang="es-ES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sv-SE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svm_poly_reg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SVR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kernel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sv-SE" sz="1800" b="0" dirty="0">
                <a:solidFill>
                  <a:srgbClr val="808080"/>
                </a:solidFill>
                <a:highlight>
                  <a:srgbClr val="FFFFFF"/>
                </a:highlight>
              </a:rPr>
              <a:t>"poly"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degree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sv-SE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2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C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sv-SE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100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epsilon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sv-SE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0.1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gamma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sv-SE" sz="18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sv-SE" sz="1800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scale</a:t>
            </a:r>
            <a:r>
              <a:rPr lang="sv-SE" sz="1800" b="0" dirty="0">
                <a:solidFill>
                  <a:srgbClr val="808080"/>
                </a:solidFill>
                <a:highlight>
                  <a:srgbClr val="FFFFFF"/>
                </a:highlight>
              </a:rPr>
              <a:t>"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sv-SE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svm_poly_reg</a:t>
            </a:r>
            <a:r>
              <a:rPr lang="sv-SE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sv-SE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sv-SE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sv-SE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sv-SE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svm_poly_reg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sz="1800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sz="1800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0.5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]).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reshape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(-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1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en-US" sz="1800" b="1" dirty="0">
                <a:solidFill>
                  <a:srgbClr val="000080"/>
                </a:solidFill>
                <a:highlight>
                  <a:srgbClr val="FFFFFF"/>
                </a:highlight>
              </a:rPr>
              <a:t>))</a:t>
            </a:r>
            <a:endParaRPr lang="en-US" sz="1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43489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7F3E6-0EA1-EA5F-3CE8-E5043D7E4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0">
            <a:extLst>
              <a:ext uri="{FF2B5EF4-FFF2-40B4-BE49-F238E27FC236}">
                <a16:creationId xmlns:a16="http://schemas.microsoft.com/office/drawing/2014/main" id="{360811FA-6FC8-3851-886A-3D326F456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C199316-8C2E-6050-164D-8EBA18D7F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46" r="9089" b="1973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C9FF5A2C-9810-2DAA-F322-052653C5D2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A5C75-2A92-37A5-8E26-627AC0268D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22363"/>
            <a:ext cx="4759845" cy="3204134"/>
          </a:xfrm>
        </p:spPr>
        <p:txBody>
          <a:bodyPr anchor="b">
            <a:normAutofit/>
          </a:bodyPr>
          <a:lstStyle/>
          <a:p>
            <a:pPr algn="l"/>
            <a:r>
              <a:rPr lang="sv-SE" sz="4400" dirty="0"/>
              <a:t>Linjär Regression 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7889B-A19E-D3E8-347E-BBE56C17E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1900" dirty="0"/>
              <a:t>Antonio Prgomet</a:t>
            </a:r>
          </a:p>
          <a:p>
            <a:pPr algn="l"/>
            <a:r>
              <a:rPr lang="en-US" sz="1900" dirty="0"/>
              <a:t>Delta AI &amp; Negotiations</a:t>
            </a:r>
            <a:endParaRPr lang="en-US" sz="1900" b="0" i="0" dirty="0">
              <a:effectLst/>
              <a:latin typeface="-apple-system"/>
              <a:hlinkClick r:id="rId3"/>
            </a:endParaRPr>
          </a:p>
          <a:p>
            <a:pPr algn="l"/>
            <a:r>
              <a:rPr lang="en-US" sz="1900" b="0" i="0" dirty="0">
                <a:effectLst/>
                <a:latin typeface="-apple-system"/>
                <a:hlinkClick r:id="rId3"/>
              </a:rPr>
              <a:t>www.linkedin.com/in/antonioprgomet</a:t>
            </a:r>
            <a:r>
              <a:rPr lang="en-US" sz="1900" b="0" i="0" dirty="0">
                <a:effectLst/>
                <a:latin typeface="-apple-system"/>
              </a:rPr>
              <a:t> 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BB5EF26A-E00E-2F48-27E1-578845756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C054E162-F125-A888-FD22-C3F6FCEE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BBC645-9B16-8211-C83B-E9F9C6ED4664}"/>
              </a:ext>
            </a:extLst>
          </p:cNvPr>
          <p:cNvSpPr/>
          <p:nvPr/>
        </p:nvSpPr>
        <p:spPr>
          <a:xfrm>
            <a:off x="381740" y="390617"/>
            <a:ext cx="1136342" cy="5853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51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1235</TotalTime>
  <Words>1533</Words>
  <Application>Microsoft Office PowerPoint</Application>
  <PresentationFormat>Bredbild</PresentationFormat>
  <Paragraphs>171</Paragraphs>
  <Slides>35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8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35</vt:i4>
      </vt:variant>
    </vt:vector>
  </HeadingPairs>
  <TitlesOfParts>
    <vt:vector size="44" baseType="lpstr">
      <vt:lpstr>-apple-system</vt:lpstr>
      <vt:lpstr>Arial</vt:lpstr>
      <vt:lpstr>Brödtext</vt:lpstr>
      <vt:lpstr>Calibri</vt:lpstr>
      <vt:lpstr>Calibri Light</vt:lpstr>
      <vt:lpstr>Cambria Math</vt:lpstr>
      <vt:lpstr>Courier New</vt:lpstr>
      <vt:lpstr>Wingdings</vt:lpstr>
      <vt:lpstr>Office Theme</vt:lpstr>
      <vt:lpstr>Linjär Regression </vt:lpstr>
      <vt:lpstr>Linjär Regression</vt:lpstr>
      <vt:lpstr>Regressionsproblem</vt:lpstr>
      <vt:lpstr>Multipel Linjär Regression</vt:lpstr>
      <vt:lpstr>PowerPoint-presentation</vt:lpstr>
      <vt:lpstr>Parameter Skattning - Linjär Regression</vt:lpstr>
      <vt:lpstr>Parameterskattning (1/2)</vt:lpstr>
      <vt:lpstr>Gradient Descent (vi ska ha hört det)</vt:lpstr>
      <vt:lpstr>Gradient Descent</vt:lpstr>
      <vt:lpstr>Gradient Descent</vt:lpstr>
      <vt:lpstr>Utvärdering: Root Mean Squared Error (RMSE)</vt:lpstr>
      <vt:lpstr>Root Mean Squared Error (RMSE)</vt:lpstr>
      <vt:lpstr>RMSE - Tolkning</vt:lpstr>
      <vt:lpstr>RMSE - Exempel</vt:lpstr>
      <vt:lpstr>Polynomregression</vt:lpstr>
      <vt:lpstr>Polynomregression</vt:lpstr>
      <vt:lpstr>PowerPoint-presentation</vt:lpstr>
      <vt:lpstr>Bias-Variance Trade-off</vt:lpstr>
      <vt:lpstr>Bias Variance Trade-off</vt:lpstr>
      <vt:lpstr>PowerPoint-presentation</vt:lpstr>
      <vt:lpstr>Regularisering</vt:lpstr>
      <vt:lpstr>Regularisering av linjär regression</vt:lpstr>
      <vt:lpstr>Ridge Regression</vt:lpstr>
      <vt:lpstr>Hyperparameter &amp; Parameter</vt:lpstr>
      <vt:lpstr>PowerPoint-presentation</vt:lpstr>
      <vt:lpstr>Lasso Regression</vt:lpstr>
      <vt:lpstr>PowerPoint-presentation</vt:lpstr>
      <vt:lpstr>Elastic Net</vt:lpstr>
      <vt:lpstr>Beslutsträd &amp; Randomforest</vt:lpstr>
      <vt:lpstr>Regression</vt:lpstr>
      <vt:lpstr>Regularisering</vt:lpstr>
      <vt:lpstr>SVM Regression</vt:lpstr>
      <vt:lpstr>SVM Regression</vt:lpstr>
      <vt:lpstr>SVM Regression</vt:lpstr>
      <vt:lpstr>Linjär Regression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till Maskininlärning</dc:title>
  <dc:creator>Antonio Prgomet</dc:creator>
  <cp:lastModifiedBy>Antonio Prgomet</cp:lastModifiedBy>
  <cp:revision>83</cp:revision>
  <dcterms:created xsi:type="dcterms:W3CDTF">2023-05-22T17:34:32Z</dcterms:created>
  <dcterms:modified xsi:type="dcterms:W3CDTF">2026-08-21T20:04:26Z</dcterms:modified>
</cp:coreProperties>
</file>